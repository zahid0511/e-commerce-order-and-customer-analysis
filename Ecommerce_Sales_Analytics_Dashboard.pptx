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2"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11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2882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project addresses a real business challenge: e-commerce companies collect huge volumes of sales data, but manual analysis makes it hard to spot opportunities and problems quickly. Our goal was to build an interactive dashboard that turns that raw data into fast, actionable insight for management. Today I'll walk through why we built it, what it analyzes, the insights it produces, and the business impact and recommendations that follow.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dashboard was built with six clear objectives: help management monitor overall performance, track how sales move month to month, compare how different product categories perform, quickly spot the best and worst performing products, understand customer satisfaction through reviews, and ultimately make faster, more confident, data-driven decisions instead of relying on gut feel.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is built on a clean dataset covering product ID and name, category, revenue, month-by-month sales from January to December, total sales, and customer reviews. From that, the dashboard surfaces KPI cards for revenue and units, a revenue-by-category breakdown, a monthly sales trend, top and bottom 10 product rankings, average review scores, and a category slicer so managers can filter the entire view interactively.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the dashboard is opened, it answers six recurring business questions: how the company is performing overall, which categories are driving the most revenue, how sales shift across the year, which products are the strongest and weakest performers, how satisfied customers are based on their reviews, and where management should focus attention right now.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insights translate directly into management action: better inventory planning based on real demand, marketing spend focused on proven high-performing products, quick corrective action on underperformers, smarter planning around seasonal demand swings, improved customer satisfaction by acting on review feedback, and stronger strategic planning grounded in real-time data rather than assumptions.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this project converted raw, hard-to-read sales data into meaningful business insight through an interactive dashboard, giving management far better visibility into sales, product performance, and customer feedback. Ultimately, it empowers business leaders to turn data into strategy — improving efficiency, customer satisfaction, and overall growth.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961120" y="-2011680"/>
            <a:ext cx="5486400" cy="5486400"/>
          </a:xfrm>
          <a:prstGeom prst="ellipse">
            <a:avLst/>
          </a:prstGeom>
          <a:solidFill>
            <a:srgbClr val="161B4D"/>
          </a:solidFill>
          <a:ln/>
        </p:spPr>
      </p:sp>
      <p:sp>
        <p:nvSpPr>
          <p:cNvPr id="3" name="Shape 1"/>
          <p:cNvSpPr/>
          <p:nvPr/>
        </p:nvSpPr>
        <p:spPr>
          <a:xfrm>
            <a:off x="10607040" y="4206240"/>
            <a:ext cx="3840480" cy="3840480"/>
          </a:xfrm>
          <a:prstGeom prst="ellipse">
            <a:avLst/>
          </a:prstGeom>
          <a:solidFill>
            <a:srgbClr val="161B4D"/>
          </a:solidFill>
          <a:ln/>
        </p:spPr>
      </p:sp>
      <p:sp>
        <p:nvSpPr>
          <p:cNvPr id="4" name="Text 2"/>
          <p:cNvSpPr/>
          <p:nvPr/>
        </p:nvSpPr>
        <p:spPr>
          <a:xfrm>
            <a:off x="640080" y="548640"/>
            <a:ext cx="6400800" cy="320040"/>
          </a:xfrm>
          <a:prstGeom prst="rect">
            <a:avLst/>
          </a:prstGeom>
          <a:noFill/>
          <a:ln/>
        </p:spPr>
        <p:txBody>
          <a:bodyPr wrap="square" rtlCol="0" anchor="ctr"/>
          <a:lstStyle/>
          <a:p>
            <a:pPr marL="0" indent="0">
              <a:buNone/>
            </a:pPr>
            <a:r>
              <a:rPr lang="en-US" sz="1200" b="1" kern="0" spc="200" dirty="0">
                <a:solidFill>
                  <a:srgbClr val="CADCFC"/>
                </a:solidFill>
                <a:latin typeface="Calibri" pitchFamily="34" charset="0"/>
                <a:ea typeface="Calibri" pitchFamily="34" charset="-122"/>
                <a:cs typeface="Calibri" pitchFamily="34" charset="-120"/>
              </a:rPr>
              <a:t>PROJECT OVERVIEW</a:t>
            </a:r>
            <a:endParaRPr lang="en-US" sz="1200" dirty="0"/>
          </a:p>
        </p:txBody>
      </p:sp>
      <p:sp>
        <p:nvSpPr>
          <p:cNvPr id="5" name="Text 3"/>
          <p:cNvSpPr/>
          <p:nvPr/>
        </p:nvSpPr>
        <p:spPr>
          <a:xfrm>
            <a:off x="594360" y="914400"/>
            <a:ext cx="6675120" cy="1554480"/>
          </a:xfrm>
          <a:prstGeom prst="rect">
            <a:avLst/>
          </a:prstGeom>
          <a:noFill/>
          <a:ln/>
        </p:spPr>
        <p:txBody>
          <a:bodyPr wrap="square" rtlCol="0" anchor="ctr"/>
          <a:lstStyle/>
          <a:p>
            <a:pPr marL="0" indent="0">
              <a:lnSpc>
                <a:spcPts val="3800"/>
              </a:lnSpc>
              <a:buNone/>
            </a:pPr>
            <a:r>
              <a:rPr lang="en-US" sz="3400" b="1" dirty="0">
                <a:solidFill>
                  <a:srgbClr val="FFFFFF"/>
                </a:solidFill>
                <a:latin typeface="Cambria" pitchFamily="34" charset="0"/>
                <a:ea typeface="Cambria" pitchFamily="34" charset="-122"/>
                <a:cs typeface="Cambria" pitchFamily="34" charset="-120"/>
              </a:rPr>
              <a:t>E-commerce Product Sales</a:t>
            </a:r>
            <a:endParaRPr lang="en-US" sz="3400" dirty="0"/>
          </a:p>
          <a:p>
            <a:pPr marL="0" indent="0">
              <a:lnSpc>
                <a:spcPts val="3800"/>
              </a:lnSpc>
              <a:buNone/>
            </a:pPr>
            <a:r>
              <a:rPr lang="en-US" sz="3400" b="1" dirty="0">
                <a:solidFill>
                  <a:srgbClr val="FFFFFF"/>
                </a:solidFill>
                <a:latin typeface="Cambria" pitchFamily="34" charset="0"/>
                <a:ea typeface="Cambria" pitchFamily="34" charset="-122"/>
                <a:cs typeface="Cambria" pitchFamily="34" charset="-120"/>
              </a:rPr>
              <a:t>Analytics Dashboard</a:t>
            </a:r>
            <a:endParaRPr lang="en-US" sz="3400" dirty="0"/>
          </a:p>
        </p:txBody>
      </p:sp>
      <p:sp>
        <p:nvSpPr>
          <p:cNvPr id="6" name="Text 4"/>
          <p:cNvSpPr/>
          <p:nvPr/>
        </p:nvSpPr>
        <p:spPr>
          <a:xfrm>
            <a:off x="640080" y="2514600"/>
            <a:ext cx="4572000" cy="274320"/>
          </a:xfrm>
          <a:prstGeom prst="rect">
            <a:avLst/>
          </a:prstGeom>
          <a:noFill/>
          <a:ln/>
        </p:spPr>
        <p:txBody>
          <a:bodyPr wrap="square" rtlCol="0" anchor="ctr"/>
          <a:lstStyle/>
          <a:p>
            <a:pPr marL="0" indent="0">
              <a:buNone/>
            </a:pPr>
            <a:r>
              <a:rPr lang="en-US" sz="1200" b="1" kern="0" spc="150" dirty="0">
                <a:solidFill>
                  <a:srgbClr val="CADCFC"/>
                </a:solidFill>
                <a:latin typeface="Calibri" pitchFamily="34" charset="0"/>
                <a:ea typeface="Calibri" pitchFamily="34" charset="-122"/>
                <a:cs typeface="Calibri" pitchFamily="34" charset="-120"/>
              </a:rPr>
              <a:t>THE PROBLEM</a:t>
            </a:r>
            <a:endParaRPr lang="en-US" sz="1200" dirty="0"/>
          </a:p>
        </p:txBody>
      </p:sp>
      <p:sp>
        <p:nvSpPr>
          <p:cNvPr id="7" name="Shape 5"/>
          <p:cNvSpPr/>
          <p:nvPr/>
        </p:nvSpPr>
        <p:spPr>
          <a:xfrm>
            <a:off x="658368" y="2962656"/>
            <a:ext cx="82296" cy="82296"/>
          </a:xfrm>
          <a:prstGeom prst="ellipse">
            <a:avLst/>
          </a:prstGeom>
          <a:solidFill>
            <a:srgbClr val="3D6FB4"/>
          </a:solidFill>
          <a:ln/>
        </p:spPr>
      </p:sp>
      <p:sp>
        <p:nvSpPr>
          <p:cNvPr id="8" name="Text 6"/>
          <p:cNvSpPr/>
          <p:nvPr/>
        </p:nvSpPr>
        <p:spPr>
          <a:xfrm>
            <a:off x="896112" y="2807208"/>
            <a:ext cx="6035040" cy="502920"/>
          </a:xfrm>
          <a:prstGeom prst="rect">
            <a:avLst/>
          </a:prstGeom>
          <a:noFill/>
          <a:ln/>
        </p:spPr>
        <p:txBody>
          <a:bodyPr wrap="square" rtlCol="0" anchor="ctr"/>
          <a:lstStyle/>
          <a:p>
            <a:pPr marL="0" indent="0">
              <a:lnSpc>
                <a:spcPts val="1700"/>
              </a:lnSpc>
              <a:buNone/>
            </a:pPr>
            <a:r>
              <a:rPr lang="en-US" sz="1350" dirty="0">
                <a:solidFill>
                  <a:srgbClr val="DCE3F5"/>
                </a:solidFill>
                <a:latin typeface="Calibri" pitchFamily="34" charset="0"/>
                <a:ea typeface="Calibri" pitchFamily="34" charset="-122"/>
                <a:cs typeface="Calibri" pitchFamily="34" charset="-120"/>
              </a:rPr>
              <a:t>E-commerce generates massive daily sales data across products and categories</a:t>
            </a:r>
            <a:endParaRPr lang="en-US" sz="1350" dirty="0"/>
          </a:p>
        </p:txBody>
      </p:sp>
      <p:sp>
        <p:nvSpPr>
          <p:cNvPr id="9" name="Shape 7"/>
          <p:cNvSpPr/>
          <p:nvPr/>
        </p:nvSpPr>
        <p:spPr>
          <a:xfrm>
            <a:off x="658368" y="3566160"/>
            <a:ext cx="82296" cy="82296"/>
          </a:xfrm>
          <a:prstGeom prst="ellipse">
            <a:avLst/>
          </a:prstGeom>
          <a:solidFill>
            <a:srgbClr val="3D6FB4"/>
          </a:solidFill>
          <a:ln/>
        </p:spPr>
      </p:sp>
      <p:sp>
        <p:nvSpPr>
          <p:cNvPr id="10" name="Text 8"/>
          <p:cNvSpPr/>
          <p:nvPr/>
        </p:nvSpPr>
        <p:spPr>
          <a:xfrm>
            <a:off x="896112" y="3410712"/>
            <a:ext cx="6035040" cy="502920"/>
          </a:xfrm>
          <a:prstGeom prst="rect">
            <a:avLst/>
          </a:prstGeom>
          <a:noFill/>
          <a:ln/>
        </p:spPr>
        <p:txBody>
          <a:bodyPr wrap="square" rtlCol="0" anchor="ctr"/>
          <a:lstStyle/>
          <a:p>
            <a:pPr marL="0" indent="0">
              <a:lnSpc>
                <a:spcPts val="1700"/>
              </a:lnSpc>
              <a:buNone/>
            </a:pPr>
            <a:r>
              <a:rPr lang="en-US" sz="1350" dirty="0">
                <a:solidFill>
                  <a:srgbClr val="DCE3F5"/>
                </a:solidFill>
                <a:latin typeface="Calibri" pitchFamily="34" charset="0"/>
                <a:ea typeface="Calibri" pitchFamily="34" charset="-122"/>
                <a:cs typeface="Calibri" pitchFamily="34" charset="-120"/>
              </a:rPr>
              <a:t>Manual analysis is slow, error-prone, and hides real opportunities</a:t>
            </a:r>
            <a:endParaRPr lang="en-US" sz="1350" dirty="0"/>
          </a:p>
        </p:txBody>
      </p:sp>
      <p:sp>
        <p:nvSpPr>
          <p:cNvPr id="11" name="Shape 9"/>
          <p:cNvSpPr/>
          <p:nvPr/>
        </p:nvSpPr>
        <p:spPr>
          <a:xfrm>
            <a:off x="658368" y="4169664"/>
            <a:ext cx="82296" cy="82296"/>
          </a:xfrm>
          <a:prstGeom prst="ellipse">
            <a:avLst/>
          </a:prstGeom>
          <a:solidFill>
            <a:srgbClr val="3D6FB4"/>
          </a:solidFill>
          <a:ln/>
        </p:spPr>
      </p:sp>
      <p:sp>
        <p:nvSpPr>
          <p:cNvPr id="12" name="Text 10"/>
          <p:cNvSpPr/>
          <p:nvPr/>
        </p:nvSpPr>
        <p:spPr>
          <a:xfrm>
            <a:off x="896112" y="4014216"/>
            <a:ext cx="6035040" cy="502920"/>
          </a:xfrm>
          <a:prstGeom prst="rect">
            <a:avLst/>
          </a:prstGeom>
          <a:noFill/>
          <a:ln/>
        </p:spPr>
        <p:txBody>
          <a:bodyPr wrap="square" rtlCol="0" anchor="ctr"/>
          <a:lstStyle/>
          <a:p>
            <a:pPr marL="0" indent="0">
              <a:lnSpc>
                <a:spcPts val="1700"/>
              </a:lnSpc>
              <a:buNone/>
            </a:pPr>
            <a:r>
              <a:rPr lang="en-US" sz="1350" dirty="0">
                <a:solidFill>
                  <a:srgbClr val="DCE3F5"/>
                </a:solidFill>
                <a:latin typeface="Calibri" pitchFamily="34" charset="0"/>
                <a:ea typeface="Calibri" pitchFamily="34" charset="-122"/>
                <a:cs typeface="Calibri" pitchFamily="34" charset="-120"/>
              </a:rPr>
              <a:t>Managers need fast, reliable insight to make confident decisions</a:t>
            </a:r>
            <a:endParaRPr lang="en-US" sz="1350" dirty="0"/>
          </a:p>
        </p:txBody>
      </p:sp>
      <p:sp>
        <p:nvSpPr>
          <p:cNvPr id="13" name="Shape 11"/>
          <p:cNvSpPr/>
          <p:nvPr/>
        </p:nvSpPr>
        <p:spPr>
          <a:xfrm>
            <a:off x="640080" y="4892040"/>
            <a:ext cx="6446520" cy="1417320"/>
          </a:xfrm>
          <a:prstGeom prst="rect">
            <a:avLst/>
          </a:prstGeom>
          <a:solidFill>
            <a:srgbClr val="161B4D"/>
          </a:solidFill>
          <a:ln w="12700">
            <a:solidFill>
              <a:srgbClr val="3A4590"/>
            </a:solidFill>
            <a:prstDash val="solid"/>
          </a:ln>
        </p:spPr>
      </p:sp>
      <p:sp>
        <p:nvSpPr>
          <p:cNvPr id="14" name="Text 12"/>
          <p:cNvSpPr/>
          <p:nvPr/>
        </p:nvSpPr>
        <p:spPr>
          <a:xfrm>
            <a:off x="868680" y="5029200"/>
            <a:ext cx="5989320" cy="1188720"/>
          </a:xfrm>
          <a:prstGeom prst="rect">
            <a:avLst/>
          </a:prstGeom>
          <a:noFill/>
          <a:ln/>
        </p:spPr>
        <p:txBody>
          <a:bodyPr wrap="square" rtlCol="0" anchor="t"/>
          <a:lstStyle/>
          <a:p>
            <a:pPr marL="0" indent="0">
              <a:lnSpc>
                <a:spcPts val="1800"/>
              </a:lnSpc>
              <a:buNone/>
            </a:pPr>
            <a:r>
              <a:rPr lang="en-US" sz="1150" b="1" kern="0" spc="100" dirty="0">
                <a:solidFill>
                  <a:srgbClr val="CADCFC"/>
                </a:solidFill>
                <a:latin typeface="Calibri" pitchFamily="34" charset="0"/>
                <a:ea typeface="Calibri" pitchFamily="34" charset="-122"/>
                <a:cs typeface="Calibri" pitchFamily="34" charset="-120"/>
              </a:rPr>
              <a:t>PROJECT GOAL   </a:t>
            </a:r>
            <a:r>
              <a:rPr lang="en-US" sz="1300" dirty="0">
                <a:solidFill>
                  <a:srgbClr val="FFFFFF"/>
                </a:solidFill>
                <a:latin typeface="Calibri" pitchFamily="34" charset="0"/>
                <a:ea typeface="Calibri" pitchFamily="34" charset="-122"/>
                <a:cs typeface="Calibri" pitchFamily="34" charset="-120"/>
              </a:rPr>
              <a:t>Turn raw sales data into an interactive dashboard that helps management monitor performance, spot trends, and act with confidence.</a:t>
            </a:r>
            <a:endParaRPr lang="en-US" sz="1150" dirty="0"/>
          </a:p>
        </p:txBody>
      </p:sp>
      <p:sp>
        <p:nvSpPr>
          <p:cNvPr id="15" name="Shape 13"/>
          <p:cNvSpPr/>
          <p:nvPr/>
        </p:nvSpPr>
        <p:spPr>
          <a:xfrm>
            <a:off x="8549640" y="1051560"/>
            <a:ext cx="2834640" cy="1234440"/>
          </a:xfrm>
          <a:prstGeom prst="roundRect">
            <a:avLst>
              <a:gd name="adj" fmla="val 5926"/>
            </a:avLst>
          </a:prstGeom>
          <a:solidFill>
            <a:srgbClr val="161B4D"/>
          </a:solidFill>
          <a:ln w="12700">
            <a:solidFill>
              <a:srgbClr val="3A4590"/>
            </a:solidFill>
            <a:prstDash val="solid"/>
          </a:ln>
        </p:spPr>
      </p:sp>
      <p:sp>
        <p:nvSpPr>
          <p:cNvPr id="16" name="Shape 14"/>
          <p:cNvSpPr/>
          <p:nvPr/>
        </p:nvSpPr>
        <p:spPr>
          <a:xfrm>
            <a:off x="8750808" y="1271016"/>
            <a:ext cx="777240" cy="777240"/>
          </a:xfrm>
          <a:prstGeom prst="ellipse">
            <a:avLst/>
          </a:prstGeom>
          <a:solidFill>
            <a:srgbClr val="3D6FB4"/>
          </a:solidFill>
          <a:ln/>
        </p:spPr>
      </p:sp>
      <p:pic>
        <p:nvPicPr>
          <p:cNvPr id="17" name="Image 0" descr="/home/claude/deck/icons/database.png"/>
          <p:cNvPicPr>
            <a:picLocks noChangeAspect="1"/>
          </p:cNvPicPr>
          <p:nvPr/>
        </p:nvPicPr>
        <p:blipFill>
          <a:blip r:embed="rId3"/>
          <a:stretch>
            <a:fillRect/>
          </a:stretch>
        </p:blipFill>
        <p:spPr>
          <a:xfrm>
            <a:off x="8925687" y="1445895"/>
            <a:ext cx="427482" cy="427482"/>
          </a:xfrm>
          <a:prstGeom prst="rect">
            <a:avLst/>
          </a:prstGeom>
        </p:spPr>
      </p:pic>
      <p:sp>
        <p:nvSpPr>
          <p:cNvPr id="18" name="Text 15"/>
          <p:cNvSpPr/>
          <p:nvPr/>
        </p:nvSpPr>
        <p:spPr>
          <a:xfrm>
            <a:off x="9646920" y="1234440"/>
            <a:ext cx="1600200" cy="457200"/>
          </a:xfrm>
          <a:prstGeom prst="rect">
            <a:avLst/>
          </a:prstGeom>
          <a:noFill/>
          <a:ln/>
        </p:spPr>
        <p:txBody>
          <a:bodyPr wrap="square" rtlCol="0" anchor="b"/>
          <a:lstStyle/>
          <a:p>
            <a:pPr marL="0" indent="0">
              <a:buNone/>
            </a:pPr>
            <a:r>
              <a:rPr lang="en-US" sz="1450" b="1" dirty="0">
                <a:solidFill>
                  <a:srgbClr val="FFFFFF"/>
                </a:solidFill>
                <a:latin typeface="Calibri" pitchFamily="34" charset="0"/>
                <a:ea typeface="Calibri" pitchFamily="34" charset="-122"/>
                <a:cs typeface="Calibri" pitchFamily="34" charset="-120"/>
              </a:rPr>
              <a:t>Raw Sales Data</a:t>
            </a:r>
            <a:endParaRPr lang="en-US" sz="1450" dirty="0"/>
          </a:p>
        </p:txBody>
      </p:sp>
      <p:sp>
        <p:nvSpPr>
          <p:cNvPr id="19" name="Text 16"/>
          <p:cNvSpPr/>
          <p:nvPr/>
        </p:nvSpPr>
        <p:spPr>
          <a:xfrm>
            <a:off x="9646920" y="1673352"/>
            <a:ext cx="1600200" cy="502920"/>
          </a:xfrm>
          <a:prstGeom prst="rect">
            <a:avLst/>
          </a:prstGeom>
          <a:noFill/>
          <a:ln/>
        </p:spPr>
        <p:txBody>
          <a:bodyPr wrap="square" rtlCol="0" anchor="t"/>
          <a:lstStyle/>
          <a:p>
            <a:pPr marL="0" indent="0">
              <a:buNone/>
            </a:pPr>
            <a:r>
              <a:rPr lang="en-US" sz="1050" dirty="0">
                <a:solidFill>
                  <a:srgbClr val="AEB8E0"/>
                </a:solidFill>
                <a:latin typeface="Calibri" pitchFamily="34" charset="0"/>
                <a:ea typeface="Calibri" pitchFamily="34" charset="-122"/>
                <a:cs typeface="Calibri" pitchFamily="34" charset="-120"/>
              </a:rPr>
              <a:t>Products • Revenue • Reviews</a:t>
            </a:r>
            <a:endParaRPr lang="en-US" sz="1050" dirty="0"/>
          </a:p>
        </p:txBody>
      </p:sp>
      <p:sp>
        <p:nvSpPr>
          <p:cNvPr id="20" name="Shape 17"/>
          <p:cNvSpPr/>
          <p:nvPr/>
        </p:nvSpPr>
        <p:spPr>
          <a:xfrm rot="10800000">
            <a:off x="9857232" y="2350008"/>
            <a:ext cx="219456" cy="201168"/>
          </a:xfrm>
          <a:prstGeom prst="rtTriangle">
            <a:avLst/>
          </a:prstGeom>
          <a:solidFill>
            <a:srgbClr val="3D6FB4"/>
          </a:solidFill>
          <a:ln/>
        </p:spPr>
      </p:sp>
      <p:sp>
        <p:nvSpPr>
          <p:cNvPr id="21" name="Shape 18"/>
          <p:cNvSpPr/>
          <p:nvPr/>
        </p:nvSpPr>
        <p:spPr>
          <a:xfrm>
            <a:off x="8549640" y="2532888"/>
            <a:ext cx="2834640" cy="1234440"/>
          </a:xfrm>
          <a:prstGeom prst="roundRect">
            <a:avLst>
              <a:gd name="adj" fmla="val 5926"/>
            </a:avLst>
          </a:prstGeom>
          <a:solidFill>
            <a:srgbClr val="161B4D"/>
          </a:solidFill>
          <a:ln w="12700">
            <a:solidFill>
              <a:srgbClr val="3A4590"/>
            </a:solidFill>
            <a:prstDash val="solid"/>
          </a:ln>
        </p:spPr>
      </p:sp>
      <p:sp>
        <p:nvSpPr>
          <p:cNvPr id="22" name="Shape 19"/>
          <p:cNvSpPr/>
          <p:nvPr/>
        </p:nvSpPr>
        <p:spPr>
          <a:xfrm>
            <a:off x="8750808" y="2752344"/>
            <a:ext cx="777240" cy="777240"/>
          </a:xfrm>
          <a:prstGeom prst="ellipse">
            <a:avLst/>
          </a:prstGeom>
          <a:solidFill>
            <a:srgbClr val="3D6FB4"/>
          </a:solidFill>
          <a:ln/>
        </p:spPr>
      </p:sp>
      <p:pic>
        <p:nvPicPr>
          <p:cNvPr id="23" name="Image 1" descr="/home/claude/deck/icons/chartLine.png"/>
          <p:cNvPicPr>
            <a:picLocks noChangeAspect="1"/>
          </p:cNvPicPr>
          <p:nvPr/>
        </p:nvPicPr>
        <p:blipFill>
          <a:blip r:embed="rId4"/>
          <a:stretch>
            <a:fillRect/>
          </a:stretch>
        </p:blipFill>
        <p:spPr>
          <a:xfrm>
            <a:off x="8925687" y="2927223"/>
            <a:ext cx="427482" cy="427482"/>
          </a:xfrm>
          <a:prstGeom prst="rect">
            <a:avLst/>
          </a:prstGeom>
        </p:spPr>
      </p:pic>
      <p:sp>
        <p:nvSpPr>
          <p:cNvPr id="24" name="Text 20"/>
          <p:cNvSpPr/>
          <p:nvPr/>
        </p:nvSpPr>
        <p:spPr>
          <a:xfrm>
            <a:off x="9646920" y="2715768"/>
            <a:ext cx="1600200" cy="457200"/>
          </a:xfrm>
          <a:prstGeom prst="rect">
            <a:avLst/>
          </a:prstGeom>
          <a:noFill/>
          <a:ln/>
        </p:spPr>
        <p:txBody>
          <a:bodyPr wrap="square" rtlCol="0" anchor="b"/>
          <a:lstStyle/>
          <a:p>
            <a:pPr marL="0" indent="0">
              <a:buNone/>
            </a:pPr>
            <a:r>
              <a:rPr lang="en-US" sz="1450" b="1" dirty="0">
                <a:solidFill>
                  <a:srgbClr val="FFFFFF"/>
                </a:solidFill>
                <a:latin typeface="Calibri" pitchFamily="34" charset="0"/>
                <a:ea typeface="Calibri" pitchFamily="34" charset="-122"/>
                <a:cs typeface="Calibri" pitchFamily="34" charset="-120"/>
              </a:rPr>
              <a:t>Analytics Dashboard</a:t>
            </a:r>
            <a:endParaRPr lang="en-US" sz="1450" dirty="0"/>
          </a:p>
        </p:txBody>
      </p:sp>
      <p:sp>
        <p:nvSpPr>
          <p:cNvPr id="25" name="Text 21"/>
          <p:cNvSpPr/>
          <p:nvPr/>
        </p:nvSpPr>
        <p:spPr>
          <a:xfrm>
            <a:off x="9646920" y="3154680"/>
            <a:ext cx="1600200" cy="502920"/>
          </a:xfrm>
          <a:prstGeom prst="rect">
            <a:avLst/>
          </a:prstGeom>
          <a:noFill/>
          <a:ln/>
        </p:spPr>
        <p:txBody>
          <a:bodyPr wrap="square" rtlCol="0" anchor="t"/>
          <a:lstStyle/>
          <a:p>
            <a:pPr marL="0" indent="0">
              <a:buNone/>
            </a:pPr>
            <a:r>
              <a:rPr lang="en-US" sz="1050" dirty="0">
                <a:solidFill>
                  <a:srgbClr val="AEB8E0"/>
                </a:solidFill>
                <a:latin typeface="Calibri" pitchFamily="34" charset="0"/>
                <a:ea typeface="Calibri" pitchFamily="34" charset="-122"/>
                <a:cs typeface="Calibri" pitchFamily="34" charset="-120"/>
              </a:rPr>
              <a:t>KPIs • Trends • Rankings</a:t>
            </a:r>
            <a:endParaRPr lang="en-US" sz="1050" dirty="0"/>
          </a:p>
        </p:txBody>
      </p:sp>
      <p:sp>
        <p:nvSpPr>
          <p:cNvPr id="26" name="Shape 22"/>
          <p:cNvSpPr/>
          <p:nvPr/>
        </p:nvSpPr>
        <p:spPr>
          <a:xfrm rot="10800000">
            <a:off x="9857232" y="3831336"/>
            <a:ext cx="219456" cy="201168"/>
          </a:xfrm>
          <a:prstGeom prst="rtTriangle">
            <a:avLst/>
          </a:prstGeom>
          <a:solidFill>
            <a:srgbClr val="3D6FB4"/>
          </a:solidFill>
          <a:ln/>
        </p:spPr>
      </p:sp>
      <p:sp>
        <p:nvSpPr>
          <p:cNvPr id="27" name="Shape 23"/>
          <p:cNvSpPr/>
          <p:nvPr/>
        </p:nvSpPr>
        <p:spPr>
          <a:xfrm>
            <a:off x="8549640" y="4014216"/>
            <a:ext cx="2834640" cy="1234440"/>
          </a:xfrm>
          <a:prstGeom prst="roundRect">
            <a:avLst>
              <a:gd name="adj" fmla="val 5926"/>
            </a:avLst>
          </a:prstGeom>
          <a:solidFill>
            <a:srgbClr val="161B4D"/>
          </a:solidFill>
          <a:ln w="12700">
            <a:solidFill>
              <a:srgbClr val="3A4590"/>
            </a:solidFill>
            <a:prstDash val="solid"/>
          </a:ln>
        </p:spPr>
      </p:sp>
      <p:sp>
        <p:nvSpPr>
          <p:cNvPr id="28" name="Shape 24"/>
          <p:cNvSpPr/>
          <p:nvPr/>
        </p:nvSpPr>
        <p:spPr>
          <a:xfrm>
            <a:off x="8750808" y="4233672"/>
            <a:ext cx="777240" cy="777240"/>
          </a:xfrm>
          <a:prstGeom prst="ellipse">
            <a:avLst/>
          </a:prstGeom>
          <a:solidFill>
            <a:srgbClr val="3D6FB4"/>
          </a:solidFill>
          <a:ln/>
        </p:spPr>
      </p:sp>
      <p:pic>
        <p:nvPicPr>
          <p:cNvPr id="29" name="Image 2" descr="/home/claude/deck/icons/bullseye.png"/>
          <p:cNvPicPr>
            <a:picLocks noChangeAspect="1"/>
          </p:cNvPicPr>
          <p:nvPr/>
        </p:nvPicPr>
        <p:blipFill>
          <a:blip r:embed="rId5"/>
          <a:stretch>
            <a:fillRect/>
          </a:stretch>
        </p:blipFill>
        <p:spPr>
          <a:xfrm>
            <a:off x="8925687" y="4408551"/>
            <a:ext cx="427482" cy="427482"/>
          </a:xfrm>
          <a:prstGeom prst="rect">
            <a:avLst/>
          </a:prstGeom>
        </p:spPr>
      </p:pic>
      <p:sp>
        <p:nvSpPr>
          <p:cNvPr id="30" name="Text 25"/>
          <p:cNvSpPr/>
          <p:nvPr/>
        </p:nvSpPr>
        <p:spPr>
          <a:xfrm>
            <a:off x="9646920" y="4197096"/>
            <a:ext cx="1600200" cy="457200"/>
          </a:xfrm>
          <a:prstGeom prst="rect">
            <a:avLst/>
          </a:prstGeom>
          <a:noFill/>
          <a:ln/>
        </p:spPr>
        <p:txBody>
          <a:bodyPr wrap="square" rtlCol="0" anchor="b"/>
          <a:lstStyle/>
          <a:p>
            <a:pPr marL="0" indent="0">
              <a:buNone/>
            </a:pPr>
            <a:r>
              <a:rPr lang="en-US" sz="1450" b="1" dirty="0">
                <a:solidFill>
                  <a:srgbClr val="FFFFFF"/>
                </a:solidFill>
                <a:latin typeface="Calibri" pitchFamily="34" charset="0"/>
                <a:ea typeface="Calibri" pitchFamily="34" charset="-122"/>
                <a:cs typeface="Calibri" pitchFamily="34" charset="-120"/>
              </a:rPr>
              <a:t>Business Decisions</a:t>
            </a:r>
            <a:endParaRPr lang="en-US" sz="1450" dirty="0"/>
          </a:p>
        </p:txBody>
      </p:sp>
      <p:sp>
        <p:nvSpPr>
          <p:cNvPr id="31" name="Text 26"/>
          <p:cNvSpPr/>
          <p:nvPr/>
        </p:nvSpPr>
        <p:spPr>
          <a:xfrm>
            <a:off x="9646920" y="4636008"/>
            <a:ext cx="1600200" cy="502920"/>
          </a:xfrm>
          <a:prstGeom prst="rect">
            <a:avLst/>
          </a:prstGeom>
          <a:noFill/>
          <a:ln/>
        </p:spPr>
        <p:txBody>
          <a:bodyPr wrap="square" rtlCol="0" anchor="t"/>
          <a:lstStyle/>
          <a:p>
            <a:pPr marL="0" indent="0">
              <a:buNone/>
            </a:pPr>
            <a:r>
              <a:rPr lang="en-US" sz="1050" dirty="0">
                <a:solidFill>
                  <a:srgbClr val="AEB8E0"/>
                </a:solidFill>
                <a:latin typeface="Calibri" pitchFamily="34" charset="0"/>
                <a:ea typeface="Calibri" pitchFamily="34" charset="-122"/>
                <a:cs typeface="Calibri" pitchFamily="34" charset="-120"/>
              </a:rPr>
              <a:t>Faster • Confident • Data-driven</a:t>
            </a:r>
            <a:endParaRPr lang="en-US" sz="1050" dirty="0"/>
          </a:p>
        </p:txBody>
      </p:sp>
      <p:sp>
        <p:nvSpPr>
          <p:cNvPr id="32" name="Text 27"/>
          <p:cNvSpPr/>
          <p:nvPr/>
        </p:nvSpPr>
        <p:spPr>
          <a:xfrm>
            <a:off x="8549640" y="5989320"/>
            <a:ext cx="3017520" cy="274320"/>
          </a:xfrm>
          <a:prstGeom prst="rect">
            <a:avLst/>
          </a:prstGeom>
          <a:noFill/>
          <a:ln/>
        </p:spPr>
        <p:txBody>
          <a:bodyPr wrap="square" rtlCol="0" anchor="ctr"/>
          <a:lstStyle/>
          <a:p>
            <a:pPr marL="0" indent="0">
              <a:buNone/>
            </a:pPr>
            <a:r>
              <a:rPr lang="en-US" sz="1100" i="1" dirty="0">
                <a:solidFill>
                  <a:srgbClr val="8891C9"/>
                </a:solidFill>
                <a:latin typeface="Calibri" pitchFamily="34" charset="0"/>
                <a:ea typeface="Calibri" pitchFamily="34" charset="-122"/>
                <a:cs typeface="Calibri" pitchFamily="34" charset="-120"/>
              </a:rPr>
              <a:t>Presented by:</a:t>
            </a:r>
          </a:p>
          <a:p>
            <a:pPr marL="0" indent="0">
              <a:buNone/>
            </a:pPr>
            <a:r>
              <a:rPr lang="en-US" sz="1100" i="1" dirty="0">
                <a:solidFill>
                  <a:srgbClr val="8891C9"/>
                </a:solidFill>
                <a:latin typeface="Calibri" pitchFamily="34" charset="0"/>
                <a:ea typeface="Calibri" pitchFamily="34" charset="-122"/>
                <a:cs typeface="Calibri" pitchFamily="34" charset="-120"/>
              </a:rPr>
              <a:t>Md Zahid</a:t>
            </a:r>
          </a:p>
          <a:p>
            <a:pPr marL="0" indent="0">
              <a:buNone/>
            </a:pPr>
            <a:r>
              <a:rPr lang="en-US" sz="1100" i="1" dirty="0">
                <a:solidFill>
                  <a:srgbClr val="8891C9"/>
                </a:solidFill>
                <a:latin typeface="Calibri" pitchFamily="34" charset="0"/>
                <a:ea typeface="Calibri" pitchFamily="34" charset="-122"/>
                <a:cs typeface="Calibri" pitchFamily="34" charset="-120"/>
              </a:rPr>
              <a:t>Prince Kumar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a:ln/>
        </p:spPr>
        <p:txBody>
          <a:bodyPr wrap="square" rtlCol="0" anchor="ctr"/>
          <a:lstStyle/>
          <a:p>
            <a:pPr marL="0" indent="0">
              <a:buNone/>
            </a:pPr>
            <a:r>
              <a:rPr lang="en-US" sz="1200" b="1" kern="0" spc="150" dirty="0">
                <a:solidFill>
                  <a:srgbClr val="3D6FB4"/>
                </a:solidFill>
                <a:latin typeface="Calibri" pitchFamily="34" charset="0"/>
                <a:ea typeface="Calibri" pitchFamily="34" charset="-122"/>
                <a:cs typeface="Calibri" pitchFamily="34" charset="-120"/>
              </a:rPr>
              <a:t>WHY THIS DASHBOARD</a:t>
            </a:r>
            <a:endParaRPr lang="en-US" sz="1200" dirty="0"/>
          </a:p>
        </p:txBody>
      </p:sp>
      <p:sp>
        <p:nvSpPr>
          <p:cNvPr id="3" name="Text 1"/>
          <p:cNvSpPr/>
          <p:nvPr/>
        </p:nvSpPr>
        <p:spPr>
          <a:xfrm>
            <a:off x="59436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Why Are We Building This Dashboard?</a:t>
            </a:r>
            <a:endParaRPr lang="en-US" sz="3000" dirty="0"/>
          </a:p>
        </p:txBody>
      </p:sp>
      <p:sp>
        <p:nvSpPr>
          <p:cNvPr id="4" name="Text 2"/>
          <p:cNvSpPr/>
          <p:nvPr/>
        </p:nvSpPr>
        <p:spPr>
          <a:xfrm>
            <a:off x="621792" y="1280160"/>
            <a:ext cx="10058400" cy="365760"/>
          </a:xfrm>
          <a:prstGeom prst="rect">
            <a:avLst/>
          </a:prstGeom>
          <a:noFill/>
          <a:ln/>
        </p:spPr>
        <p:txBody>
          <a:bodyPr wrap="square" rtlCol="0" anchor="ctr"/>
          <a:lstStyle/>
          <a:p>
            <a:pPr marL="0" indent="0">
              <a:buNone/>
            </a:pPr>
            <a:r>
              <a:rPr lang="en-US" sz="1350" i="1" dirty="0">
                <a:solidFill>
                  <a:srgbClr val="6B7785"/>
                </a:solidFill>
                <a:latin typeface="Calibri" pitchFamily="34" charset="0"/>
                <a:ea typeface="Calibri" pitchFamily="34" charset="-122"/>
                <a:cs typeface="Calibri" pitchFamily="34" charset="-120"/>
              </a:rPr>
              <a:t>The dashboard exists to give management one place to see, understand, and act on sales performance.</a:t>
            </a:r>
            <a:endParaRPr lang="en-US" sz="1350" dirty="0"/>
          </a:p>
        </p:txBody>
      </p:sp>
      <p:sp>
        <p:nvSpPr>
          <p:cNvPr id="5" name="Shape 3"/>
          <p:cNvSpPr/>
          <p:nvPr/>
        </p:nvSpPr>
        <p:spPr>
          <a:xfrm>
            <a:off x="768096" y="2093976"/>
            <a:ext cx="3386328" cy="1847088"/>
          </a:xfrm>
          <a:prstGeom prst="roundRect">
            <a:avLst>
              <a:gd name="adj" fmla="val 3465"/>
            </a:avLst>
          </a:prstGeom>
          <a:solidFill>
            <a:srgbClr val="E7EDF9"/>
          </a:solidFill>
          <a:ln/>
          <a:effectLst>
            <a:outerShdw blurRad="76200" dist="25400" dir="5400000" algn="bl" rotWithShape="0">
              <a:srgbClr val="1E2761">
                <a:alpha val="12000"/>
              </a:srgbClr>
            </a:outerShdw>
          </a:effectLst>
        </p:spPr>
      </p:sp>
      <p:sp>
        <p:nvSpPr>
          <p:cNvPr id="6" name="Shape 4"/>
          <p:cNvSpPr/>
          <p:nvPr/>
        </p:nvSpPr>
        <p:spPr>
          <a:xfrm>
            <a:off x="1024128" y="2350008"/>
            <a:ext cx="566928" cy="566928"/>
          </a:xfrm>
          <a:prstGeom prst="ellipse">
            <a:avLst/>
          </a:prstGeom>
          <a:solidFill>
            <a:srgbClr val="1E2761"/>
          </a:solidFill>
          <a:ln/>
        </p:spPr>
      </p:sp>
      <p:pic>
        <p:nvPicPr>
          <p:cNvPr id="7" name="Image 0" descr="/home/claude/deck/icons/gauge.png"/>
          <p:cNvPicPr>
            <a:picLocks noChangeAspect="1"/>
          </p:cNvPicPr>
          <p:nvPr/>
        </p:nvPicPr>
        <p:blipFill>
          <a:blip r:embed="rId3"/>
          <a:stretch>
            <a:fillRect/>
          </a:stretch>
        </p:blipFill>
        <p:spPr>
          <a:xfrm>
            <a:off x="1151687" y="2477567"/>
            <a:ext cx="311810" cy="311810"/>
          </a:xfrm>
          <a:prstGeom prst="rect">
            <a:avLst/>
          </a:prstGeom>
        </p:spPr>
      </p:pic>
      <p:sp>
        <p:nvSpPr>
          <p:cNvPr id="8" name="Text 5"/>
          <p:cNvSpPr/>
          <p:nvPr/>
        </p:nvSpPr>
        <p:spPr>
          <a:xfrm>
            <a:off x="1024128" y="3054096"/>
            <a:ext cx="2874264" cy="365760"/>
          </a:xfrm>
          <a:prstGeom prst="rect">
            <a:avLst/>
          </a:prstGeom>
          <a:noFill/>
          <a:ln/>
        </p:spPr>
        <p:txBody>
          <a:bodyPr wrap="square"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Monitor Performance</a:t>
            </a:r>
            <a:endParaRPr lang="en-US" sz="1400" dirty="0"/>
          </a:p>
        </p:txBody>
      </p:sp>
      <p:sp>
        <p:nvSpPr>
          <p:cNvPr id="9" name="Text 6"/>
          <p:cNvSpPr/>
          <p:nvPr/>
        </p:nvSpPr>
        <p:spPr>
          <a:xfrm>
            <a:off x="1024128" y="3429000"/>
            <a:ext cx="2874264" cy="548640"/>
          </a:xfrm>
          <a:prstGeom prst="rect">
            <a:avLst/>
          </a:prstGeom>
          <a:noFill/>
          <a:ln/>
        </p:spPr>
        <p:txBody>
          <a:bodyPr wrap="square" rtlCol="0" anchor="t"/>
          <a:lstStyle/>
          <a:p>
            <a:pPr marL="0" indent="0">
              <a:lnSpc>
                <a:spcPts val="1400"/>
              </a:lnSpc>
              <a:buNone/>
            </a:pPr>
            <a:r>
              <a:rPr lang="en-US" sz="1100" dirty="0">
                <a:solidFill>
                  <a:srgbClr val="36454F"/>
                </a:solidFill>
                <a:latin typeface="Calibri" pitchFamily="34" charset="0"/>
                <a:ea typeface="Calibri" pitchFamily="34" charset="-122"/>
                <a:cs typeface="Calibri" pitchFamily="34" charset="-120"/>
              </a:rPr>
              <a:t>Track overall business health at a glance</a:t>
            </a:r>
            <a:endParaRPr lang="en-US" sz="1100" dirty="0"/>
          </a:p>
        </p:txBody>
      </p:sp>
      <p:sp>
        <p:nvSpPr>
          <p:cNvPr id="10" name="Shape 7"/>
          <p:cNvSpPr/>
          <p:nvPr/>
        </p:nvSpPr>
        <p:spPr>
          <a:xfrm>
            <a:off x="4410456" y="2093976"/>
            <a:ext cx="3386328" cy="1847088"/>
          </a:xfrm>
          <a:prstGeom prst="roundRect">
            <a:avLst>
              <a:gd name="adj" fmla="val 3465"/>
            </a:avLst>
          </a:prstGeom>
          <a:solidFill>
            <a:srgbClr val="E7EDF9"/>
          </a:solidFill>
          <a:ln/>
          <a:effectLst>
            <a:outerShdw blurRad="76200" dist="25400" dir="5400000" algn="bl" rotWithShape="0">
              <a:srgbClr val="1E2761">
                <a:alpha val="12000"/>
              </a:srgbClr>
            </a:outerShdw>
          </a:effectLst>
        </p:spPr>
      </p:sp>
      <p:sp>
        <p:nvSpPr>
          <p:cNvPr id="11" name="Shape 8"/>
          <p:cNvSpPr/>
          <p:nvPr/>
        </p:nvSpPr>
        <p:spPr>
          <a:xfrm>
            <a:off x="4666488" y="2350008"/>
            <a:ext cx="566928" cy="566928"/>
          </a:xfrm>
          <a:prstGeom prst="ellipse">
            <a:avLst/>
          </a:prstGeom>
          <a:solidFill>
            <a:srgbClr val="1E2761"/>
          </a:solidFill>
          <a:ln/>
        </p:spPr>
      </p:sp>
      <p:pic>
        <p:nvPicPr>
          <p:cNvPr id="12" name="Image 1" descr="/home/claude/deck/icons/chartLine.png"/>
          <p:cNvPicPr>
            <a:picLocks noChangeAspect="1"/>
          </p:cNvPicPr>
          <p:nvPr/>
        </p:nvPicPr>
        <p:blipFill>
          <a:blip r:embed="rId4"/>
          <a:stretch>
            <a:fillRect/>
          </a:stretch>
        </p:blipFill>
        <p:spPr>
          <a:xfrm>
            <a:off x="4794047" y="2477567"/>
            <a:ext cx="311810" cy="311810"/>
          </a:xfrm>
          <a:prstGeom prst="rect">
            <a:avLst/>
          </a:prstGeom>
        </p:spPr>
      </p:pic>
      <p:sp>
        <p:nvSpPr>
          <p:cNvPr id="13" name="Text 9"/>
          <p:cNvSpPr/>
          <p:nvPr/>
        </p:nvSpPr>
        <p:spPr>
          <a:xfrm>
            <a:off x="4666488" y="3054096"/>
            <a:ext cx="2874264" cy="365760"/>
          </a:xfrm>
          <a:prstGeom prst="rect">
            <a:avLst/>
          </a:prstGeom>
          <a:noFill/>
          <a:ln/>
        </p:spPr>
        <p:txBody>
          <a:bodyPr wrap="square"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Track Monthly Trends</a:t>
            </a:r>
            <a:endParaRPr lang="en-US" sz="1400" dirty="0"/>
          </a:p>
        </p:txBody>
      </p:sp>
      <p:sp>
        <p:nvSpPr>
          <p:cNvPr id="14" name="Text 10"/>
          <p:cNvSpPr/>
          <p:nvPr/>
        </p:nvSpPr>
        <p:spPr>
          <a:xfrm>
            <a:off x="4666488" y="3429000"/>
            <a:ext cx="2874264" cy="548640"/>
          </a:xfrm>
          <a:prstGeom prst="rect">
            <a:avLst/>
          </a:prstGeom>
          <a:noFill/>
          <a:ln/>
        </p:spPr>
        <p:txBody>
          <a:bodyPr wrap="square" rtlCol="0" anchor="t"/>
          <a:lstStyle/>
          <a:p>
            <a:pPr marL="0" indent="0">
              <a:lnSpc>
                <a:spcPts val="1400"/>
              </a:lnSpc>
              <a:buNone/>
            </a:pPr>
            <a:r>
              <a:rPr lang="en-US" sz="1100" dirty="0">
                <a:solidFill>
                  <a:srgbClr val="36454F"/>
                </a:solidFill>
                <a:latin typeface="Calibri" pitchFamily="34" charset="0"/>
                <a:ea typeface="Calibri" pitchFamily="34" charset="-122"/>
                <a:cs typeface="Calibri" pitchFamily="34" charset="-120"/>
              </a:rPr>
              <a:t>See how sales rise and fall across the year</a:t>
            </a:r>
            <a:endParaRPr lang="en-US" sz="1100" dirty="0"/>
          </a:p>
        </p:txBody>
      </p:sp>
      <p:sp>
        <p:nvSpPr>
          <p:cNvPr id="15" name="Shape 11"/>
          <p:cNvSpPr/>
          <p:nvPr/>
        </p:nvSpPr>
        <p:spPr>
          <a:xfrm>
            <a:off x="8052816" y="2093976"/>
            <a:ext cx="3386328" cy="1847088"/>
          </a:xfrm>
          <a:prstGeom prst="roundRect">
            <a:avLst>
              <a:gd name="adj" fmla="val 3465"/>
            </a:avLst>
          </a:prstGeom>
          <a:solidFill>
            <a:srgbClr val="E7EDF9"/>
          </a:solidFill>
          <a:ln/>
          <a:effectLst>
            <a:outerShdw blurRad="76200" dist="25400" dir="5400000" algn="bl" rotWithShape="0">
              <a:srgbClr val="1E2761">
                <a:alpha val="12000"/>
              </a:srgbClr>
            </a:outerShdw>
          </a:effectLst>
        </p:spPr>
      </p:sp>
      <p:sp>
        <p:nvSpPr>
          <p:cNvPr id="16" name="Shape 12"/>
          <p:cNvSpPr/>
          <p:nvPr/>
        </p:nvSpPr>
        <p:spPr>
          <a:xfrm>
            <a:off x="8308848" y="2350008"/>
            <a:ext cx="566928" cy="566928"/>
          </a:xfrm>
          <a:prstGeom prst="ellipse">
            <a:avLst/>
          </a:prstGeom>
          <a:solidFill>
            <a:srgbClr val="1E2761"/>
          </a:solidFill>
          <a:ln/>
        </p:spPr>
      </p:sp>
      <p:pic>
        <p:nvPicPr>
          <p:cNvPr id="17" name="Image 2" descr="/home/claude/deck/icons/chartBar.png"/>
          <p:cNvPicPr>
            <a:picLocks noChangeAspect="1"/>
          </p:cNvPicPr>
          <p:nvPr/>
        </p:nvPicPr>
        <p:blipFill>
          <a:blip r:embed="rId5"/>
          <a:stretch>
            <a:fillRect/>
          </a:stretch>
        </p:blipFill>
        <p:spPr>
          <a:xfrm>
            <a:off x="8436407" y="2477567"/>
            <a:ext cx="311810" cy="311810"/>
          </a:xfrm>
          <a:prstGeom prst="rect">
            <a:avLst/>
          </a:prstGeom>
        </p:spPr>
      </p:pic>
      <p:sp>
        <p:nvSpPr>
          <p:cNvPr id="18" name="Text 13"/>
          <p:cNvSpPr/>
          <p:nvPr/>
        </p:nvSpPr>
        <p:spPr>
          <a:xfrm>
            <a:off x="8308848" y="3054096"/>
            <a:ext cx="2874264" cy="365760"/>
          </a:xfrm>
          <a:prstGeom prst="rect">
            <a:avLst/>
          </a:prstGeom>
          <a:noFill/>
          <a:ln/>
        </p:spPr>
        <p:txBody>
          <a:bodyPr wrap="square"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Compare Categories</a:t>
            </a:r>
            <a:endParaRPr lang="en-US" sz="1400" dirty="0"/>
          </a:p>
        </p:txBody>
      </p:sp>
      <p:sp>
        <p:nvSpPr>
          <p:cNvPr id="19" name="Text 14"/>
          <p:cNvSpPr/>
          <p:nvPr/>
        </p:nvSpPr>
        <p:spPr>
          <a:xfrm>
            <a:off x="8308848" y="3429000"/>
            <a:ext cx="2874264" cy="548640"/>
          </a:xfrm>
          <a:prstGeom prst="rect">
            <a:avLst/>
          </a:prstGeom>
          <a:noFill/>
          <a:ln/>
        </p:spPr>
        <p:txBody>
          <a:bodyPr wrap="square" rtlCol="0" anchor="t"/>
          <a:lstStyle/>
          <a:p>
            <a:pPr marL="0" indent="0">
              <a:lnSpc>
                <a:spcPts val="1400"/>
              </a:lnSpc>
              <a:buNone/>
            </a:pPr>
            <a:r>
              <a:rPr lang="en-US" sz="1100" dirty="0">
                <a:solidFill>
                  <a:srgbClr val="36454F"/>
                </a:solidFill>
                <a:latin typeface="Calibri" pitchFamily="34" charset="0"/>
                <a:ea typeface="Calibri" pitchFamily="34" charset="-122"/>
                <a:cs typeface="Calibri" pitchFamily="34" charset="-120"/>
              </a:rPr>
              <a:t>Understand which categories drive results</a:t>
            </a:r>
            <a:endParaRPr lang="en-US" sz="1100" dirty="0"/>
          </a:p>
        </p:txBody>
      </p:sp>
      <p:sp>
        <p:nvSpPr>
          <p:cNvPr id="20" name="Shape 15"/>
          <p:cNvSpPr/>
          <p:nvPr/>
        </p:nvSpPr>
        <p:spPr>
          <a:xfrm>
            <a:off x="768096" y="4197096"/>
            <a:ext cx="3386328" cy="1847088"/>
          </a:xfrm>
          <a:prstGeom prst="roundRect">
            <a:avLst>
              <a:gd name="adj" fmla="val 3465"/>
            </a:avLst>
          </a:prstGeom>
          <a:solidFill>
            <a:srgbClr val="E7EDF9"/>
          </a:solidFill>
          <a:ln/>
          <a:effectLst>
            <a:outerShdw blurRad="76200" dist="25400" dir="5400000" algn="bl" rotWithShape="0">
              <a:srgbClr val="1E2761">
                <a:alpha val="12000"/>
              </a:srgbClr>
            </a:outerShdw>
          </a:effectLst>
        </p:spPr>
      </p:sp>
      <p:sp>
        <p:nvSpPr>
          <p:cNvPr id="21" name="Shape 16"/>
          <p:cNvSpPr/>
          <p:nvPr/>
        </p:nvSpPr>
        <p:spPr>
          <a:xfrm>
            <a:off x="1024128" y="4453128"/>
            <a:ext cx="566928" cy="566928"/>
          </a:xfrm>
          <a:prstGeom prst="ellipse">
            <a:avLst/>
          </a:prstGeom>
          <a:solidFill>
            <a:srgbClr val="1E2761"/>
          </a:solidFill>
          <a:ln/>
        </p:spPr>
      </p:sp>
      <p:pic>
        <p:nvPicPr>
          <p:cNvPr id="22" name="Image 3" descr="/home/claude/deck/icons/trophy.png"/>
          <p:cNvPicPr>
            <a:picLocks noChangeAspect="1"/>
          </p:cNvPicPr>
          <p:nvPr/>
        </p:nvPicPr>
        <p:blipFill>
          <a:blip r:embed="rId6"/>
          <a:stretch>
            <a:fillRect/>
          </a:stretch>
        </p:blipFill>
        <p:spPr>
          <a:xfrm>
            <a:off x="1151687" y="4580687"/>
            <a:ext cx="311810" cy="311810"/>
          </a:xfrm>
          <a:prstGeom prst="rect">
            <a:avLst/>
          </a:prstGeom>
        </p:spPr>
      </p:pic>
      <p:sp>
        <p:nvSpPr>
          <p:cNvPr id="23" name="Text 17"/>
          <p:cNvSpPr/>
          <p:nvPr/>
        </p:nvSpPr>
        <p:spPr>
          <a:xfrm>
            <a:off x="1024128" y="5157216"/>
            <a:ext cx="2874264" cy="365760"/>
          </a:xfrm>
          <a:prstGeom prst="rect">
            <a:avLst/>
          </a:prstGeom>
          <a:noFill/>
          <a:ln/>
        </p:spPr>
        <p:txBody>
          <a:bodyPr wrap="square"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Spot Top &amp; Bottom Products</a:t>
            </a:r>
            <a:endParaRPr lang="en-US" sz="1400" dirty="0"/>
          </a:p>
        </p:txBody>
      </p:sp>
      <p:sp>
        <p:nvSpPr>
          <p:cNvPr id="24" name="Text 18"/>
          <p:cNvSpPr/>
          <p:nvPr/>
        </p:nvSpPr>
        <p:spPr>
          <a:xfrm>
            <a:off x="1024128" y="5532120"/>
            <a:ext cx="2874264" cy="548640"/>
          </a:xfrm>
          <a:prstGeom prst="rect">
            <a:avLst/>
          </a:prstGeom>
          <a:noFill/>
          <a:ln/>
        </p:spPr>
        <p:txBody>
          <a:bodyPr wrap="square" rtlCol="0" anchor="t"/>
          <a:lstStyle/>
          <a:p>
            <a:pPr marL="0" indent="0">
              <a:lnSpc>
                <a:spcPts val="1400"/>
              </a:lnSpc>
              <a:buNone/>
            </a:pPr>
            <a:r>
              <a:rPr lang="en-US" sz="1100" dirty="0">
                <a:solidFill>
                  <a:srgbClr val="36454F"/>
                </a:solidFill>
                <a:latin typeface="Calibri" pitchFamily="34" charset="0"/>
                <a:ea typeface="Calibri" pitchFamily="34" charset="-122"/>
                <a:cs typeface="Calibri" pitchFamily="34" charset="-120"/>
              </a:rPr>
              <a:t>Identify what to scale and what to fix</a:t>
            </a:r>
            <a:endParaRPr lang="en-US" sz="1100" dirty="0"/>
          </a:p>
        </p:txBody>
      </p:sp>
      <p:sp>
        <p:nvSpPr>
          <p:cNvPr id="25" name="Shape 19"/>
          <p:cNvSpPr/>
          <p:nvPr/>
        </p:nvSpPr>
        <p:spPr>
          <a:xfrm>
            <a:off x="4410456" y="4197096"/>
            <a:ext cx="3386328" cy="1847088"/>
          </a:xfrm>
          <a:prstGeom prst="roundRect">
            <a:avLst>
              <a:gd name="adj" fmla="val 3465"/>
            </a:avLst>
          </a:prstGeom>
          <a:solidFill>
            <a:srgbClr val="E7EDF9"/>
          </a:solidFill>
          <a:ln/>
          <a:effectLst>
            <a:outerShdw blurRad="76200" dist="25400" dir="5400000" algn="bl" rotWithShape="0">
              <a:srgbClr val="1E2761">
                <a:alpha val="12000"/>
              </a:srgbClr>
            </a:outerShdw>
          </a:effectLst>
        </p:spPr>
      </p:sp>
      <p:sp>
        <p:nvSpPr>
          <p:cNvPr id="26" name="Shape 20"/>
          <p:cNvSpPr/>
          <p:nvPr/>
        </p:nvSpPr>
        <p:spPr>
          <a:xfrm>
            <a:off x="4666488" y="4453128"/>
            <a:ext cx="566928" cy="566928"/>
          </a:xfrm>
          <a:prstGeom prst="ellipse">
            <a:avLst/>
          </a:prstGeom>
          <a:solidFill>
            <a:srgbClr val="1E2761"/>
          </a:solidFill>
          <a:ln/>
        </p:spPr>
      </p:sp>
      <p:pic>
        <p:nvPicPr>
          <p:cNvPr id="27" name="Image 4" descr="/home/claude/deck/icons/smile.png"/>
          <p:cNvPicPr>
            <a:picLocks noChangeAspect="1"/>
          </p:cNvPicPr>
          <p:nvPr/>
        </p:nvPicPr>
        <p:blipFill>
          <a:blip r:embed="rId7"/>
          <a:stretch>
            <a:fillRect/>
          </a:stretch>
        </p:blipFill>
        <p:spPr>
          <a:xfrm>
            <a:off x="4794047" y="4580687"/>
            <a:ext cx="311810" cy="311810"/>
          </a:xfrm>
          <a:prstGeom prst="rect">
            <a:avLst/>
          </a:prstGeom>
        </p:spPr>
      </p:pic>
      <p:sp>
        <p:nvSpPr>
          <p:cNvPr id="28" name="Text 21"/>
          <p:cNvSpPr/>
          <p:nvPr/>
        </p:nvSpPr>
        <p:spPr>
          <a:xfrm>
            <a:off x="4666488" y="5157216"/>
            <a:ext cx="2874264" cy="365760"/>
          </a:xfrm>
          <a:prstGeom prst="rect">
            <a:avLst/>
          </a:prstGeom>
          <a:noFill/>
          <a:ln/>
        </p:spPr>
        <p:txBody>
          <a:bodyPr wrap="square"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Evaluate Satisfaction</a:t>
            </a:r>
            <a:endParaRPr lang="en-US" sz="1400" dirty="0"/>
          </a:p>
        </p:txBody>
      </p:sp>
      <p:sp>
        <p:nvSpPr>
          <p:cNvPr id="29" name="Text 22"/>
          <p:cNvSpPr/>
          <p:nvPr/>
        </p:nvSpPr>
        <p:spPr>
          <a:xfrm>
            <a:off x="4666488" y="5532120"/>
            <a:ext cx="2874264" cy="548640"/>
          </a:xfrm>
          <a:prstGeom prst="rect">
            <a:avLst/>
          </a:prstGeom>
          <a:noFill/>
          <a:ln/>
        </p:spPr>
        <p:txBody>
          <a:bodyPr wrap="square" rtlCol="0" anchor="t"/>
          <a:lstStyle/>
          <a:p>
            <a:pPr marL="0" indent="0">
              <a:lnSpc>
                <a:spcPts val="1400"/>
              </a:lnSpc>
              <a:buNone/>
            </a:pPr>
            <a:r>
              <a:rPr lang="en-US" sz="1100" dirty="0">
                <a:solidFill>
                  <a:srgbClr val="36454F"/>
                </a:solidFill>
                <a:latin typeface="Calibri" pitchFamily="34" charset="0"/>
                <a:ea typeface="Calibri" pitchFamily="34" charset="-122"/>
                <a:cs typeface="Calibri" pitchFamily="34" charset="-120"/>
              </a:rPr>
              <a:t>Read customer sentiment through reviews</a:t>
            </a:r>
            <a:endParaRPr lang="en-US" sz="1100" dirty="0"/>
          </a:p>
        </p:txBody>
      </p:sp>
      <p:sp>
        <p:nvSpPr>
          <p:cNvPr id="30" name="Shape 23"/>
          <p:cNvSpPr/>
          <p:nvPr/>
        </p:nvSpPr>
        <p:spPr>
          <a:xfrm>
            <a:off x="8052816" y="4197096"/>
            <a:ext cx="3386328" cy="1847088"/>
          </a:xfrm>
          <a:prstGeom prst="roundRect">
            <a:avLst>
              <a:gd name="adj" fmla="val 3465"/>
            </a:avLst>
          </a:prstGeom>
          <a:solidFill>
            <a:srgbClr val="E7EDF9"/>
          </a:solidFill>
          <a:ln/>
          <a:effectLst>
            <a:outerShdw blurRad="76200" dist="25400" dir="5400000" algn="bl" rotWithShape="0">
              <a:srgbClr val="1E2761">
                <a:alpha val="12000"/>
              </a:srgbClr>
            </a:outerShdw>
          </a:effectLst>
        </p:spPr>
      </p:sp>
      <p:sp>
        <p:nvSpPr>
          <p:cNvPr id="31" name="Shape 24"/>
          <p:cNvSpPr/>
          <p:nvPr/>
        </p:nvSpPr>
        <p:spPr>
          <a:xfrm>
            <a:off x="8308848" y="4453128"/>
            <a:ext cx="566928" cy="566928"/>
          </a:xfrm>
          <a:prstGeom prst="ellipse">
            <a:avLst/>
          </a:prstGeom>
          <a:solidFill>
            <a:srgbClr val="1E2761"/>
          </a:solidFill>
          <a:ln/>
        </p:spPr>
      </p:sp>
      <p:pic>
        <p:nvPicPr>
          <p:cNvPr id="32" name="Image 5" descr="/home/claude/deck/icons/bullseye.png"/>
          <p:cNvPicPr>
            <a:picLocks noChangeAspect="1"/>
          </p:cNvPicPr>
          <p:nvPr/>
        </p:nvPicPr>
        <p:blipFill>
          <a:blip r:embed="rId8"/>
          <a:stretch>
            <a:fillRect/>
          </a:stretch>
        </p:blipFill>
        <p:spPr>
          <a:xfrm>
            <a:off x="8436407" y="4580687"/>
            <a:ext cx="311810" cy="311810"/>
          </a:xfrm>
          <a:prstGeom prst="rect">
            <a:avLst/>
          </a:prstGeom>
        </p:spPr>
      </p:pic>
      <p:sp>
        <p:nvSpPr>
          <p:cNvPr id="33" name="Text 25"/>
          <p:cNvSpPr/>
          <p:nvPr/>
        </p:nvSpPr>
        <p:spPr>
          <a:xfrm>
            <a:off x="8308848" y="5157216"/>
            <a:ext cx="2874264" cy="365760"/>
          </a:xfrm>
          <a:prstGeom prst="rect">
            <a:avLst/>
          </a:prstGeom>
          <a:noFill/>
          <a:ln/>
        </p:spPr>
        <p:txBody>
          <a:bodyPr wrap="square" rtlCol="0" anchor="t"/>
          <a:lstStyle/>
          <a:p>
            <a:pPr marL="0" indent="0">
              <a:buNone/>
            </a:pPr>
            <a:r>
              <a:rPr lang="en-US" sz="1400" b="1" dirty="0">
                <a:solidFill>
                  <a:srgbClr val="1E2761"/>
                </a:solidFill>
                <a:latin typeface="Calibri" pitchFamily="34" charset="0"/>
                <a:ea typeface="Calibri" pitchFamily="34" charset="-122"/>
                <a:cs typeface="Calibri" pitchFamily="34" charset="-120"/>
              </a:rPr>
              <a:t>Decide Faster</a:t>
            </a:r>
            <a:endParaRPr lang="en-US" sz="1400" dirty="0"/>
          </a:p>
        </p:txBody>
      </p:sp>
      <p:sp>
        <p:nvSpPr>
          <p:cNvPr id="34" name="Text 26"/>
          <p:cNvSpPr/>
          <p:nvPr/>
        </p:nvSpPr>
        <p:spPr>
          <a:xfrm>
            <a:off x="8308848" y="5532120"/>
            <a:ext cx="2874264" cy="548640"/>
          </a:xfrm>
          <a:prstGeom prst="rect">
            <a:avLst/>
          </a:prstGeom>
          <a:noFill/>
          <a:ln/>
        </p:spPr>
        <p:txBody>
          <a:bodyPr wrap="square" rtlCol="0" anchor="t"/>
          <a:lstStyle/>
          <a:p>
            <a:pPr marL="0" indent="0">
              <a:lnSpc>
                <a:spcPts val="1400"/>
              </a:lnSpc>
              <a:buNone/>
            </a:pPr>
            <a:r>
              <a:rPr lang="en-US" sz="1100" dirty="0">
                <a:solidFill>
                  <a:srgbClr val="36454F"/>
                </a:solidFill>
                <a:latin typeface="Calibri" pitchFamily="34" charset="0"/>
                <a:ea typeface="Calibri" pitchFamily="34" charset="-122"/>
                <a:cs typeface="Calibri" pitchFamily="34" charset="-120"/>
              </a:rPr>
              <a:t>Replace guesswork with data-backed decisions</a:t>
            </a:r>
            <a:endParaRPr lang="en-US" sz="1100" dirty="0"/>
          </a:p>
        </p:txBody>
      </p:sp>
      <p:sp>
        <p:nvSpPr>
          <p:cNvPr id="35" name="Text 27"/>
          <p:cNvSpPr/>
          <p:nvPr/>
        </p:nvSpPr>
        <p:spPr>
          <a:xfrm>
            <a:off x="457200" y="6473952"/>
            <a:ext cx="7315200" cy="274320"/>
          </a:xfrm>
          <a:prstGeom prst="rect">
            <a:avLst/>
          </a:prstGeom>
          <a:noFill/>
          <a:ln/>
        </p:spPr>
        <p:txBody>
          <a:bodyPr wrap="square" rtlCol="0" anchor="ctr"/>
          <a:lstStyle/>
          <a:p>
            <a:pPr marL="0" indent="0">
              <a:buNone/>
            </a:pPr>
            <a:r>
              <a:rPr lang="en-US" sz="900" kern="0" spc="100" dirty="0">
                <a:solidFill>
                  <a:srgbClr val="A6ADB8"/>
                </a:solidFill>
                <a:latin typeface="Calibri" pitchFamily="34" charset="0"/>
                <a:ea typeface="Calibri" pitchFamily="34" charset="-122"/>
                <a:cs typeface="Calibri" pitchFamily="34" charset="-120"/>
              </a:rPr>
              <a:t>E-COMMERCE SALES ANALYTICS DASHBOARD</a:t>
            </a:r>
            <a:endParaRPr lang="en-US" sz="900" dirty="0"/>
          </a:p>
        </p:txBody>
      </p:sp>
      <p:sp>
        <p:nvSpPr>
          <p:cNvPr id="36" name="Text 2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A6ADB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a:ln/>
        </p:spPr>
        <p:txBody>
          <a:bodyPr wrap="square" rtlCol="0" anchor="ctr"/>
          <a:lstStyle/>
          <a:p>
            <a:pPr marL="0" indent="0">
              <a:buNone/>
            </a:pPr>
            <a:r>
              <a:rPr lang="en-US" sz="1200" b="1" kern="0" spc="150" dirty="0">
                <a:solidFill>
                  <a:srgbClr val="3D6FB4"/>
                </a:solidFill>
                <a:latin typeface="Calibri" pitchFamily="34" charset="0"/>
                <a:ea typeface="Calibri" pitchFamily="34" charset="-122"/>
                <a:cs typeface="Calibri" pitchFamily="34" charset="-120"/>
              </a:rPr>
              <a:t>DATA &amp; DASHBOARD</a:t>
            </a:r>
            <a:endParaRPr lang="en-US" sz="1200" dirty="0"/>
          </a:p>
        </p:txBody>
      </p:sp>
      <p:sp>
        <p:nvSpPr>
          <p:cNvPr id="3" name="Text 1"/>
          <p:cNvSpPr/>
          <p:nvPr/>
        </p:nvSpPr>
        <p:spPr>
          <a:xfrm>
            <a:off x="59436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Data Overview &amp; Dashboard Features</a:t>
            </a:r>
            <a:endParaRPr lang="en-US" sz="3000" dirty="0"/>
          </a:p>
        </p:txBody>
      </p:sp>
      <p:sp>
        <p:nvSpPr>
          <p:cNvPr id="4" name="Shape 2"/>
          <p:cNvSpPr/>
          <p:nvPr/>
        </p:nvSpPr>
        <p:spPr>
          <a:xfrm>
            <a:off x="640080" y="1508760"/>
            <a:ext cx="3657600" cy="4434840"/>
          </a:xfrm>
          <a:prstGeom prst="roundRect">
            <a:avLst>
              <a:gd name="adj" fmla="val 2000"/>
            </a:avLst>
          </a:prstGeom>
          <a:solidFill>
            <a:srgbClr val="1E2761"/>
          </a:solidFill>
          <a:ln/>
        </p:spPr>
      </p:sp>
      <p:sp>
        <p:nvSpPr>
          <p:cNvPr id="5" name="Shape 3"/>
          <p:cNvSpPr/>
          <p:nvPr/>
        </p:nvSpPr>
        <p:spPr>
          <a:xfrm>
            <a:off x="914400" y="1783080"/>
            <a:ext cx="548640" cy="548640"/>
          </a:xfrm>
          <a:prstGeom prst="ellipse">
            <a:avLst/>
          </a:prstGeom>
          <a:solidFill>
            <a:srgbClr val="3D6FB4"/>
          </a:solidFill>
          <a:ln/>
        </p:spPr>
      </p:sp>
      <p:pic>
        <p:nvPicPr>
          <p:cNvPr id="6" name="Image 0" descr="/home/claude/deck/icons/table.png"/>
          <p:cNvPicPr>
            <a:picLocks noChangeAspect="1"/>
          </p:cNvPicPr>
          <p:nvPr/>
        </p:nvPicPr>
        <p:blipFill>
          <a:blip r:embed="rId3"/>
          <a:stretch>
            <a:fillRect/>
          </a:stretch>
        </p:blipFill>
        <p:spPr>
          <a:xfrm>
            <a:off x="1037844" y="1906524"/>
            <a:ext cx="301752" cy="301752"/>
          </a:xfrm>
          <a:prstGeom prst="rect">
            <a:avLst/>
          </a:prstGeom>
        </p:spPr>
      </p:pic>
      <p:sp>
        <p:nvSpPr>
          <p:cNvPr id="7" name="Text 4"/>
          <p:cNvSpPr/>
          <p:nvPr/>
        </p:nvSpPr>
        <p:spPr>
          <a:xfrm>
            <a:off x="1600200" y="1828800"/>
            <a:ext cx="2468880" cy="45720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Dataset Fields</a:t>
            </a:r>
            <a:endParaRPr lang="en-US" sz="1600" dirty="0"/>
          </a:p>
        </p:txBody>
      </p:sp>
      <p:sp>
        <p:nvSpPr>
          <p:cNvPr id="8" name="Shape 5"/>
          <p:cNvSpPr/>
          <p:nvPr/>
        </p:nvSpPr>
        <p:spPr>
          <a:xfrm>
            <a:off x="932688" y="2651760"/>
            <a:ext cx="64008" cy="64008"/>
          </a:xfrm>
          <a:prstGeom prst="ellipse">
            <a:avLst/>
          </a:prstGeom>
          <a:solidFill>
            <a:srgbClr val="CADCFC"/>
          </a:solidFill>
          <a:ln/>
        </p:spPr>
      </p:sp>
      <p:sp>
        <p:nvSpPr>
          <p:cNvPr id="9" name="Text 6"/>
          <p:cNvSpPr/>
          <p:nvPr/>
        </p:nvSpPr>
        <p:spPr>
          <a:xfrm>
            <a:off x="1143000" y="2514600"/>
            <a:ext cx="2880360" cy="365760"/>
          </a:xfrm>
          <a:prstGeom prst="rect">
            <a:avLst/>
          </a:prstGeom>
          <a:noFill/>
          <a:ln/>
        </p:spPr>
        <p:txBody>
          <a:bodyPr wrap="square" rtlCol="0" anchor="ctr"/>
          <a:lstStyle/>
          <a:p>
            <a:pPr marL="0" indent="0">
              <a:buNone/>
            </a:pPr>
            <a:r>
              <a:rPr lang="en-US" sz="1250" dirty="0">
                <a:solidFill>
                  <a:srgbClr val="E4E9F7"/>
                </a:solidFill>
                <a:latin typeface="Calibri" pitchFamily="34" charset="0"/>
                <a:ea typeface="Calibri" pitchFamily="34" charset="-122"/>
                <a:cs typeface="Calibri" pitchFamily="34" charset="-120"/>
              </a:rPr>
              <a:t>Product ID &amp; Name</a:t>
            </a:r>
            <a:endParaRPr lang="en-US" sz="1250" dirty="0"/>
          </a:p>
        </p:txBody>
      </p:sp>
      <p:sp>
        <p:nvSpPr>
          <p:cNvPr id="10" name="Shape 7"/>
          <p:cNvSpPr/>
          <p:nvPr/>
        </p:nvSpPr>
        <p:spPr>
          <a:xfrm>
            <a:off x="932688" y="3136392"/>
            <a:ext cx="64008" cy="64008"/>
          </a:xfrm>
          <a:prstGeom prst="ellipse">
            <a:avLst/>
          </a:prstGeom>
          <a:solidFill>
            <a:srgbClr val="CADCFC"/>
          </a:solidFill>
          <a:ln/>
        </p:spPr>
      </p:sp>
      <p:sp>
        <p:nvSpPr>
          <p:cNvPr id="11" name="Text 8"/>
          <p:cNvSpPr/>
          <p:nvPr/>
        </p:nvSpPr>
        <p:spPr>
          <a:xfrm>
            <a:off x="1143000" y="2999232"/>
            <a:ext cx="2880360" cy="365760"/>
          </a:xfrm>
          <a:prstGeom prst="rect">
            <a:avLst/>
          </a:prstGeom>
          <a:noFill/>
          <a:ln/>
        </p:spPr>
        <p:txBody>
          <a:bodyPr wrap="square" rtlCol="0" anchor="ctr"/>
          <a:lstStyle/>
          <a:p>
            <a:pPr marL="0" indent="0">
              <a:buNone/>
            </a:pPr>
            <a:r>
              <a:rPr lang="en-US" sz="1250" dirty="0">
                <a:solidFill>
                  <a:srgbClr val="E4E9F7"/>
                </a:solidFill>
                <a:latin typeface="Calibri" pitchFamily="34" charset="0"/>
                <a:ea typeface="Calibri" pitchFamily="34" charset="-122"/>
                <a:cs typeface="Calibri" pitchFamily="34" charset="-120"/>
              </a:rPr>
              <a:t>Product Category</a:t>
            </a:r>
            <a:endParaRPr lang="en-US" sz="1250" dirty="0"/>
          </a:p>
        </p:txBody>
      </p:sp>
      <p:sp>
        <p:nvSpPr>
          <p:cNvPr id="12" name="Shape 9"/>
          <p:cNvSpPr/>
          <p:nvPr/>
        </p:nvSpPr>
        <p:spPr>
          <a:xfrm>
            <a:off x="932688" y="3621024"/>
            <a:ext cx="64008" cy="64008"/>
          </a:xfrm>
          <a:prstGeom prst="ellipse">
            <a:avLst/>
          </a:prstGeom>
          <a:solidFill>
            <a:srgbClr val="CADCFC"/>
          </a:solidFill>
          <a:ln/>
        </p:spPr>
      </p:sp>
      <p:sp>
        <p:nvSpPr>
          <p:cNvPr id="13" name="Text 10"/>
          <p:cNvSpPr/>
          <p:nvPr/>
        </p:nvSpPr>
        <p:spPr>
          <a:xfrm>
            <a:off x="1143000" y="3483864"/>
            <a:ext cx="2880360" cy="365760"/>
          </a:xfrm>
          <a:prstGeom prst="rect">
            <a:avLst/>
          </a:prstGeom>
          <a:noFill/>
          <a:ln/>
        </p:spPr>
        <p:txBody>
          <a:bodyPr wrap="square" rtlCol="0" anchor="ctr"/>
          <a:lstStyle/>
          <a:p>
            <a:pPr marL="0" indent="0">
              <a:buNone/>
            </a:pPr>
            <a:r>
              <a:rPr lang="en-US" sz="1250" dirty="0">
                <a:solidFill>
                  <a:srgbClr val="E4E9F7"/>
                </a:solidFill>
                <a:latin typeface="Calibri" pitchFamily="34" charset="0"/>
                <a:ea typeface="Calibri" pitchFamily="34" charset="-122"/>
                <a:cs typeface="Calibri" pitchFamily="34" charset="-120"/>
              </a:rPr>
              <a:t>Revenue</a:t>
            </a:r>
            <a:endParaRPr lang="en-US" sz="1250" dirty="0"/>
          </a:p>
        </p:txBody>
      </p:sp>
      <p:sp>
        <p:nvSpPr>
          <p:cNvPr id="14" name="Shape 11"/>
          <p:cNvSpPr/>
          <p:nvPr/>
        </p:nvSpPr>
        <p:spPr>
          <a:xfrm>
            <a:off x="932688" y="4105656"/>
            <a:ext cx="64008" cy="64008"/>
          </a:xfrm>
          <a:prstGeom prst="ellipse">
            <a:avLst/>
          </a:prstGeom>
          <a:solidFill>
            <a:srgbClr val="CADCFC"/>
          </a:solidFill>
          <a:ln/>
        </p:spPr>
      </p:sp>
      <p:sp>
        <p:nvSpPr>
          <p:cNvPr id="15" name="Text 12"/>
          <p:cNvSpPr/>
          <p:nvPr/>
        </p:nvSpPr>
        <p:spPr>
          <a:xfrm>
            <a:off x="1143000" y="3968496"/>
            <a:ext cx="2880360" cy="365760"/>
          </a:xfrm>
          <a:prstGeom prst="rect">
            <a:avLst/>
          </a:prstGeom>
          <a:noFill/>
          <a:ln/>
        </p:spPr>
        <p:txBody>
          <a:bodyPr wrap="square" rtlCol="0" anchor="ctr"/>
          <a:lstStyle/>
          <a:p>
            <a:pPr marL="0" indent="0">
              <a:buNone/>
            </a:pPr>
            <a:r>
              <a:rPr lang="en-US" sz="1250" dirty="0">
                <a:solidFill>
                  <a:srgbClr val="E4E9F7"/>
                </a:solidFill>
                <a:latin typeface="Calibri" pitchFamily="34" charset="0"/>
                <a:ea typeface="Calibri" pitchFamily="34" charset="-122"/>
                <a:cs typeface="Calibri" pitchFamily="34" charset="-120"/>
              </a:rPr>
              <a:t>Monthly Sales (Jan–Dec)</a:t>
            </a:r>
            <a:endParaRPr lang="en-US" sz="1250" dirty="0"/>
          </a:p>
        </p:txBody>
      </p:sp>
      <p:sp>
        <p:nvSpPr>
          <p:cNvPr id="16" name="Shape 13"/>
          <p:cNvSpPr/>
          <p:nvPr/>
        </p:nvSpPr>
        <p:spPr>
          <a:xfrm>
            <a:off x="932688" y="4590288"/>
            <a:ext cx="64008" cy="64008"/>
          </a:xfrm>
          <a:prstGeom prst="ellipse">
            <a:avLst/>
          </a:prstGeom>
          <a:solidFill>
            <a:srgbClr val="CADCFC"/>
          </a:solidFill>
          <a:ln/>
        </p:spPr>
      </p:sp>
      <p:sp>
        <p:nvSpPr>
          <p:cNvPr id="17" name="Text 14"/>
          <p:cNvSpPr/>
          <p:nvPr/>
        </p:nvSpPr>
        <p:spPr>
          <a:xfrm>
            <a:off x="1143000" y="4453128"/>
            <a:ext cx="2880360" cy="365760"/>
          </a:xfrm>
          <a:prstGeom prst="rect">
            <a:avLst/>
          </a:prstGeom>
          <a:noFill/>
          <a:ln/>
        </p:spPr>
        <p:txBody>
          <a:bodyPr wrap="square" rtlCol="0" anchor="ctr"/>
          <a:lstStyle/>
          <a:p>
            <a:pPr marL="0" indent="0">
              <a:buNone/>
            </a:pPr>
            <a:r>
              <a:rPr lang="en-US" sz="1250" dirty="0">
                <a:solidFill>
                  <a:srgbClr val="E4E9F7"/>
                </a:solidFill>
                <a:latin typeface="Calibri" pitchFamily="34" charset="0"/>
                <a:ea typeface="Calibri" pitchFamily="34" charset="-122"/>
                <a:cs typeface="Calibri" pitchFamily="34" charset="-120"/>
              </a:rPr>
              <a:t>Total Sales</a:t>
            </a:r>
            <a:endParaRPr lang="en-US" sz="1250" dirty="0"/>
          </a:p>
        </p:txBody>
      </p:sp>
      <p:sp>
        <p:nvSpPr>
          <p:cNvPr id="18" name="Shape 15"/>
          <p:cNvSpPr/>
          <p:nvPr/>
        </p:nvSpPr>
        <p:spPr>
          <a:xfrm>
            <a:off x="932688" y="5074920"/>
            <a:ext cx="64008" cy="64008"/>
          </a:xfrm>
          <a:prstGeom prst="ellipse">
            <a:avLst/>
          </a:prstGeom>
          <a:solidFill>
            <a:srgbClr val="CADCFC"/>
          </a:solidFill>
          <a:ln/>
        </p:spPr>
      </p:sp>
      <p:sp>
        <p:nvSpPr>
          <p:cNvPr id="19" name="Text 16"/>
          <p:cNvSpPr/>
          <p:nvPr/>
        </p:nvSpPr>
        <p:spPr>
          <a:xfrm>
            <a:off x="1143000" y="4937760"/>
            <a:ext cx="2880360" cy="365760"/>
          </a:xfrm>
          <a:prstGeom prst="rect">
            <a:avLst/>
          </a:prstGeom>
          <a:noFill/>
          <a:ln/>
        </p:spPr>
        <p:txBody>
          <a:bodyPr wrap="square" rtlCol="0" anchor="ctr"/>
          <a:lstStyle/>
          <a:p>
            <a:pPr marL="0" indent="0">
              <a:buNone/>
            </a:pPr>
            <a:r>
              <a:rPr lang="en-US" sz="1250" dirty="0">
                <a:solidFill>
                  <a:srgbClr val="E4E9F7"/>
                </a:solidFill>
                <a:latin typeface="Calibri" pitchFamily="34" charset="0"/>
                <a:ea typeface="Calibri" pitchFamily="34" charset="-122"/>
                <a:cs typeface="Calibri" pitchFamily="34" charset="-120"/>
              </a:rPr>
              <a:t>Customer Reviews &amp; Ratings</a:t>
            </a:r>
            <a:endParaRPr lang="en-US" sz="1250" dirty="0"/>
          </a:p>
        </p:txBody>
      </p:sp>
      <p:sp>
        <p:nvSpPr>
          <p:cNvPr id="20" name="Shape 17"/>
          <p:cNvSpPr/>
          <p:nvPr/>
        </p:nvSpPr>
        <p:spPr>
          <a:xfrm>
            <a:off x="914400" y="5303520"/>
            <a:ext cx="3108960" cy="18288"/>
          </a:xfrm>
          <a:prstGeom prst="rect">
            <a:avLst/>
          </a:prstGeom>
          <a:solidFill>
            <a:srgbClr val="3A4590"/>
          </a:solidFill>
          <a:ln/>
        </p:spPr>
      </p:sp>
      <p:sp>
        <p:nvSpPr>
          <p:cNvPr id="21" name="Text 18"/>
          <p:cNvSpPr/>
          <p:nvPr/>
        </p:nvSpPr>
        <p:spPr>
          <a:xfrm>
            <a:off x="914400" y="5440680"/>
            <a:ext cx="3108960" cy="457200"/>
          </a:xfrm>
          <a:prstGeom prst="rect">
            <a:avLst/>
          </a:prstGeom>
          <a:noFill/>
          <a:ln/>
        </p:spPr>
        <p:txBody>
          <a:bodyPr wrap="square" rtlCol="0" anchor="ctr"/>
          <a:lstStyle/>
          <a:p>
            <a:pPr marL="0" indent="0" algn="l">
              <a:buNone/>
            </a:pPr>
            <a:r>
              <a:rPr lang="en-US" sz="2000" b="1" dirty="0">
                <a:solidFill>
                  <a:srgbClr val="FFFFFF"/>
                </a:solidFill>
                <a:latin typeface="Calibri" pitchFamily="34" charset="0"/>
                <a:ea typeface="Calibri" pitchFamily="34" charset="-122"/>
                <a:cs typeface="Calibri" pitchFamily="34" charset="-120"/>
              </a:rPr>
              <a:t>993</a:t>
            </a:r>
            <a:endParaRPr lang="en-US" sz="2000" dirty="0"/>
          </a:p>
          <a:p>
            <a:pPr marL="0" indent="0" algn="l">
              <a:buNone/>
            </a:pPr>
            <a:r>
              <a:rPr lang="en-US" sz="1000" dirty="0">
                <a:solidFill>
                  <a:srgbClr val="AEB8E0"/>
                </a:solidFill>
                <a:latin typeface="Calibri" pitchFamily="34" charset="0"/>
                <a:ea typeface="Calibri" pitchFamily="34" charset="-122"/>
                <a:cs typeface="Calibri" pitchFamily="34" charset="-120"/>
              </a:rPr>
              <a:t>products tracked</a:t>
            </a:r>
            <a:endParaRPr lang="en-US" sz="2000" dirty="0"/>
          </a:p>
        </p:txBody>
      </p:sp>
      <p:sp>
        <p:nvSpPr>
          <p:cNvPr id="22" name="Shape 19"/>
          <p:cNvSpPr/>
          <p:nvPr/>
        </p:nvSpPr>
        <p:spPr>
          <a:xfrm>
            <a:off x="4526280" y="1508760"/>
            <a:ext cx="7040880" cy="4434840"/>
          </a:xfrm>
          <a:prstGeom prst="roundRect">
            <a:avLst>
              <a:gd name="adj" fmla="val 1649"/>
            </a:avLst>
          </a:prstGeom>
          <a:solidFill>
            <a:srgbClr val="E7EDF9"/>
          </a:solidFill>
          <a:ln w="12700">
            <a:solidFill>
              <a:srgbClr val="D3DEF3"/>
            </a:solidFill>
            <a:prstDash val="solid"/>
          </a:ln>
        </p:spPr>
      </p:sp>
      <p:sp>
        <p:nvSpPr>
          <p:cNvPr id="23" name="Text 20"/>
          <p:cNvSpPr/>
          <p:nvPr/>
        </p:nvSpPr>
        <p:spPr>
          <a:xfrm>
            <a:off x="4800600" y="1691640"/>
            <a:ext cx="6492240" cy="320040"/>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Dashboard Snapshot  —  Interactive &amp; Category-Filterable</a:t>
            </a:r>
            <a:endParaRPr lang="en-US" sz="1300" dirty="0"/>
          </a:p>
        </p:txBody>
      </p:sp>
      <p:sp>
        <p:nvSpPr>
          <p:cNvPr id="24" name="Shape 21"/>
          <p:cNvSpPr/>
          <p:nvPr/>
        </p:nvSpPr>
        <p:spPr>
          <a:xfrm>
            <a:off x="4800600" y="2130552"/>
            <a:ext cx="1499616" cy="868680"/>
          </a:xfrm>
          <a:prstGeom prst="roundRect">
            <a:avLst>
              <a:gd name="adj" fmla="val 6316"/>
            </a:avLst>
          </a:prstGeom>
          <a:solidFill>
            <a:srgbClr val="FFFFFF"/>
          </a:solidFill>
          <a:ln/>
          <a:effectLst>
            <a:outerShdw blurRad="63500" dist="25400" dir="5400000" algn="bl" rotWithShape="0">
              <a:srgbClr val="1E2761">
                <a:alpha val="10000"/>
              </a:srgbClr>
            </a:outerShdw>
          </a:effectLst>
        </p:spPr>
      </p:sp>
      <p:sp>
        <p:nvSpPr>
          <p:cNvPr id="25" name="Text 22"/>
          <p:cNvSpPr/>
          <p:nvPr/>
        </p:nvSpPr>
        <p:spPr>
          <a:xfrm>
            <a:off x="4873752" y="2194560"/>
            <a:ext cx="1353312" cy="411480"/>
          </a:xfrm>
          <a:prstGeom prst="rect">
            <a:avLst/>
          </a:prstGeom>
          <a:noFill/>
          <a:ln/>
        </p:spPr>
        <p:txBody>
          <a:bodyPr wrap="square" rtlCol="0" anchor="ctr"/>
          <a:lstStyle/>
          <a:p>
            <a:pPr marL="0" indent="0" algn="ctr">
              <a:buNone/>
            </a:pPr>
            <a:r>
              <a:rPr lang="en-US" sz="1700" b="1" dirty="0">
                <a:solidFill>
                  <a:srgbClr val="3D6FB4"/>
                </a:solidFill>
                <a:latin typeface="Calibri" pitchFamily="34" charset="0"/>
                <a:ea typeface="Calibri" pitchFamily="34" charset="-122"/>
                <a:cs typeface="Calibri" pitchFamily="34" charset="-120"/>
              </a:rPr>
              <a:t>$1.48B</a:t>
            </a:r>
            <a:endParaRPr lang="en-US" sz="1700" dirty="0"/>
          </a:p>
        </p:txBody>
      </p:sp>
      <p:sp>
        <p:nvSpPr>
          <p:cNvPr id="26" name="Text 23"/>
          <p:cNvSpPr/>
          <p:nvPr/>
        </p:nvSpPr>
        <p:spPr>
          <a:xfrm>
            <a:off x="4873752" y="2624328"/>
            <a:ext cx="1353312" cy="320040"/>
          </a:xfrm>
          <a:prstGeom prst="rect">
            <a:avLst/>
          </a:prstGeom>
          <a:noFill/>
          <a:ln/>
        </p:spPr>
        <p:txBody>
          <a:bodyPr wrap="square" rtlCol="0" anchor="ctr"/>
          <a:lstStyle/>
          <a:p>
            <a:pPr marL="0" indent="0" algn="ctr">
              <a:buNone/>
            </a:pPr>
            <a:r>
              <a:rPr lang="en-US" sz="900" dirty="0">
                <a:solidFill>
                  <a:srgbClr val="36454F"/>
                </a:solidFill>
                <a:latin typeface="Calibri" pitchFamily="34" charset="0"/>
                <a:ea typeface="Calibri" pitchFamily="34" charset="-122"/>
                <a:cs typeface="Calibri" pitchFamily="34" charset="-120"/>
              </a:rPr>
              <a:t>Total Revenue</a:t>
            </a:r>
            <a:endParaRPr lang="en-US" sz="900" dirty="0"/>
          </a:p>
        </p:txBody>
      </p:sp>
      <p:sp>
        <p:nvSpPr>
          <p:cNvPr id="27" name="Shape 24"/>
          <p:cNvSpPr/>
          <p:nvPr/>
        </p:nvSpPr>
        <p:spPr>
          <a:xfrm>
            <a:off x="6464808" y="2130552"/>
            <a:ext cx="1499616" cy="868680"/>
          </a:xfrm>
          <a:prstGeom prst="roundRect">
            <a:avLst>
              <a:gd name="adj" fmla="val 6316"/>
            </a:avLst>
          </a:prstGeom>
          <a:solidFill>
            <a:srgbClr val="FFFFFF"/>
          </a:solidFill>
          <a:ln/>
          <a:effectLst>
            <a:outerShdw blurRad="63500" dist="25400" dir="5400000" algn="bl" rotWithShape="0">
              <a:srgbClr val="1E2761">
                <a:alpha val="10000"/>
              </a:srgbClr>
            </a:outerShdw>
          </a:effectLst>
        </p:spPr>
      </p:sp>
      <p:sp>
        <p:nvSpPr>
          <p:cNvPr id="28" name="Text 25"/>
          <p:cNvSpPr/>
          <p:nvPr/>
        </p:nvSpPr>
        <p:spPr>
          <a:xfrm>
            <a:off x="6537960" y="2194560"/>
            <a:ext cx="1353312" cy="411480"/>
          </a:xfrm>
          <a:prstGeom prst="rect">
            <a:avLst/>
          </a:prstGeom>
          <a:noFill/>
          <a:ln/>
        </p:spPr>
        <p:txBody>
          <a:bodyPr wrap="square" rtlCol="0" anchor="ctr"/>
          <a:lstStyle/>
          <a:p>
            <a:pPr marL="0" indent="0" algn="ctr">
              <a:buNone/>
            </a:pPr>
            <a:r>
              <a:rPr lang="en-US" sz="1700" b="1" dirty="0">
                <a:solidFill>
                  <a:srgbClr val="3D6FB4"/>
                </a:solidFill>
                <a:latin typeface="Calibri" pitchFamily="34" charset="0"/>
                <a:ea typeface="Calibri" pitchFamily="34" charset="-122"/>
                <a:cs typeface="Calibri" pitchFamily="34" charset="-120"/>
              </a:rPr>
              <a:t>5.98M</a:t>
            </a:r>
            <a:endParaRPr lang="en-US" sz="1700" dirty="0"/>
          </a:p>
        </p:txBody>
      </p:sp>
      <p:sp>
        <p:nvSpPr>
          <p:cNvPr id="29" name="Text 26"/>
          <p:cNvSpPr/>
          <p:nvPr/>
        </p:nvSpPr>
        <p:spPr>
          <a:xfrm>
            <a:off x="6537960" y="2624328"/>
            <a:ext cx="1353312" cy="320040"/>
          </a:xfrm>
          <a:prstGeom prst="rect">
            <a:avLst/>
          </a:prstGeom>
          <a:noFill/>
          <a:ln/>
        </p:spPr>
        <p:txBody>
          <a:bodyPr wrap="square" rtlCol="0" anchor="ctr"/>
          <a:lstStyle/>
          <a:p>
            <a:pPr marL="0" indent="0" algn="ctr">
              <a:buNone/>
            </a:pPr>
            <a:r>
              <a:rPr lang="en-US" sz="900" dirty="0">
                <a:solidFill>
                  <a:srgbClr val="36454F"/>
                </a:solidFill>
                <a:latin typeface="Calibri" pitchFamily="34" charset="0"/>
                <a:ea typeface="Calibri" pitchFamily="34" charset="-122"/>
                <a:cs typeface="Calibri" pitchFamily="34" charset="-120"/>
              </a:rPr>
              <a:t>Total Units Sold</a:t>
            </a:r>
            <a:endParaRPr lang="en-US" sz="900" dirty="0"/>
          </a:p>
        </p:txBody>
      </p:sp>
      <p:sp>
        <p:nvSpPr>
          <p:cNvPr id="30" name="Shape 27"/>
          <p:cNvSpPr/>
          <p:nvPr/>
        </p:nvSpPr>
        <p:spPr>
          <a:xfrm>
            <a:off x="8129016" y="2130552"/>
            <a:ext cx="1499616" cy="868680"/>
          </a:xfrm>
          <a:prstGeom prst="roundRect">
            <a:avLst>
              <a:gd name="adj" fmla="val 6316"/>
            </a:avLst>
          </a:prstGeom>
          <a:solidFill>
            <a:srgbClr val="FFFFFF"/>
          </a:solidFill>
          <a:ln/>
          <a:effectLst>
            <a:outerShdw blurRad="63500" dist="25400" dir="5400000" algn="bl" rotWithShape="0">
              <a:srgbClr val="1E2761">
                <a:alpha val="10000"/>
              </a:srgbClr>
            </a:outerShdw>
          </a:effectLst>
        </p:spPr>
      </p:sp>
      <p:sp>
        <p:nvSpPr>
          <p:cNvPr id="31" name="Text 28"/>
          <p:cNvSpPr/>
          <p:nvPr/>
        </p:nvSpPr>
        <p:spPr>
          <a:xfrm>
            <a:off x="8202168" y="2194560"/>
            <a:ext cx="1353312" cy="411480"/>
          </a:xfrm>
          <a:prstGeom prst="rect">
            <a:avLst/>
          </a:prstGeom>
          <a:noFill/>
          <a:ln/>
        </p:spPr>
        <p:txBody>
          <a:bodyPr wrap="square" rtlCol="0" anchor="ctr"/>
          <a:lstStyle/>
          <a:p>
            <a:pPr marL="0" indent="0" algn="ctr">
              <a:buNone/>
            </a:pPr>
            <a:r>
              <a:rPr lang="en-US" sz="1700" b="1" dirty="0">
                <a:solidFill>
                  <a:srgbClr val="3D6FB4"/>
                </a:solidFill>
                <a:latin typeface="Calibri" pitchFamily="34" charset="0"/>
                <a:ea typeface="Calibri" pitchFamily="34" charset="-122"/>
                <a:cs typeface="Calibri" pitchFamily="34" charset="-120"/>
              </a:rPr>
              <a:t>3.0 / 5</a:t>
            </a:r>
            <a:endParaRPr lang="en-US" sz="1700" dirty="0"/>
          </a:p>
        </p:txBody>
      </p:sp>
      <p:sp>
        <p:nvSpPr>
          <p:cNvPr id="32" name="Text 29"/>
          <p:cNvSpPr/>
          <p:nvPr/>
        </p:nvSpPr>
        <p:spPr>
          <a:xfrm>
            <a:off x="8202168" y="2624328"/>
            <a:ext cx="1353312" cy="320040"/>
          </a:xfrm>
          <a:prstGeom prst="rect">
            <a:avLst/>
          </a:prstGeom>
          <a:noFill/>
          <a:ln/>
        </p:spPr>
        <p:txBody>
          <a:bodyPr wrap="square" rtlCol="0" anchor="ctr"/>
          <a:lstStyle/>
          <a:p>
            <a:pPr marL="0" indent="0" algn="ctr">
              <a:buNone/>
            </a:pPr>
            <a:r>
              <a:rPr lang="en-US" sz="900" dirty="0">
                <a:solidFill>
                  <a:srgbClr val="36454F"/>
                </a:solidFill>
                <a:latin typeface="Calibri" pitchFamily="34" charset="0"/>
                <a:ea typeface="Calibri" pitchFamily="34" charset="-122"/>
                <a:cs typeface="Calibri" pitchFamily="34" charset="-120"/>
              </a:rPr>
              <a:t>Avg. Review Score</a:t>
            </a:r>
            <a:endParaRPr lang="en-US" sz="900" dirty="0"/>
          </a:p>
        </p:txBody>
      </p:sp>
      <p:sp>
        <p:nvSpPr>
          <p:cNvPr id="33" name="Shape 30"/>
          <p:cNvSpPr/>
          <p:nvPr/>
        </p:nvSpPr>
        <p:spPr>
          <a:xfrm>
            <a:off x="9793224" y="2130552"/>
            <a:ext cx="1499616" cy="868680"/>
          </a:xfrm>
          <a:prstGeom prst="roundRect">
            <a:avLst>
              <a:gd name="adj" fmla="val 6316"/>
            </a:avLst>
          </a:prstGeom>
          <a:solidFill>
            <a:srgbClr val="FFFFFF"/>
          </a:solidFill>
          <a:ln/>
          <a:effectLst>
            <a:outerShdw blurRad="63500" dist="25400" dir="5400000" algn="bl" rotWithShape="0">
              <a:srgbClr val="1E2761">
                <a:alpha val="10000"/>
              </a:srgbClr>
            </a:outerShdw>
          </a:effectLst>
        </p:spPr>
      </p:sp>
      <p:sp>
        <p:nvSpPr>
          <p:cNvPr id="34" name="Text 31"/>
          <p:cNvSpPr/>
          <p:nvPr/>
        </p:nvSpPr>
        <p:spPr>
          <a:xfrm>
            <a:off x="9866376" y="2194560"/>
            <a:ext cx="1353312" cy="411480"/>
          </a:xfrm>
          <a:prstGeom prst="rect">
            <a:avLst/>
          </a:prstGeom>
          <a:noFill/>
          <a:ln/>
        </p:spPr>
        <p:txBody>
          <a:bodyPr wrap="square" rtlCol="0" anchor="ctr"/>
          <a:lstStyle/>
          <a:p>
            <a:pPr marL="0" indent="0" algn="ctr">
              <a:buNone/>
            </a:pPr>
            <a:r>
              <a:rPr lang="en-US" sz="1700" b="1" dirty="0">
                <a:solidFill>
                  <a:srgbClr val="3D6FB4"/>
                </a:solidFill>
                <a:latin typeface="Calibri" pitchFamily="34" charset="0"/>
                <a:ea typeface="Calibri" pitchFamily="34" charset="-122"/>
                <a:cs typeface="Calibri" pitchFamily="34" charset="-120"/>
              </a:rPr>
              <a:t>993</a:t>
            </a:r>
            <a:endParaRPr lang="en-US" sz="1700" dirty="0"/>
          </a:p>
        </p:txBody>
      </p:sp>
      <p:sp>
        <p:nvSpPr>
          <p:cNvPr id="35" name="Text 32"/>
          <p:cNvSpPr/>
          <p:nvPr/>
        </p:nvSpPr>
        <p:spPr>
          <a:xfrm>
            <a:off x="9866376" y="2624328"/>
            <a:ext cx="1353312" cy="320040"/>
          </a:xfrm>
          <a:prstGeom prst="rect">
            <a:avLst/>
          </a:prstGeom>
          <a:noFill/>
          <a:ln/>
        </p:spPr>
        <p:txBody>
          <a:bodyPr wrap="square" rtlCol="0" anchor="ctr"/>
          <a:lstStyle/>
          <a:p>
            <a:pPr marL="0" indent="0" algn="ctr">
              <a:buNone/>
            </a:pPr>
            <a:r>
              <a:rPr lang="en-US" sz="900" dirty="0">
                <a:solidFill>
                  <a:srgbClr val="36454F"/>
                </a:solidFill>
                <a:latin typeface="Calibri" pitchFamily="34" charset="0"/>
                <a:ea typeface="Calibri" pitchFamily="34" charset="-122"/>
                <a:cs typeface="Calibri" pitchFamily="34" charset="-120"/>
              </a:rPr>
              <a:t>Products Tracked</a:t>
            </a:r>
            <a:endParaRPr lang="en-US" sz="900" dirty="0"/>
          </a:p>
        </p:txBody>
      </p:sp>
      <p:sp>
        <p:nvSpPr>
          <p:cNvPr id="36" name="Shape 33"/>
          <p:cNvSpPr/>
          <p:nvPr/>
        </p:nvSpPr>
        <p:spPr>
          <a:xfrm>
            <a:off x="4846320" y="3383280"/>
            <a:ext cx="457200" cy="457200"/>
          </a:xfrm>
          <a:prstGeom prst="ellipse">
            <a:avLst/>
          </a:prstGeom>
          <a:solidFill>
            <a:srgbClr val="1E2761"/>
          </a:solidFill>
          <a:ln/>
        </p:spPr>
      </p:sp>
      <p:pic>
        <p:nvPicPr>
          <p:cNvPr id="37" name="Image 1" descr="/home/claude/deck/icons/chartBar.png"/>
          <p:cNvPicPr>
            <a:picLocks noChangeAspect="1"/>
          </p:cNvPicPr>
          <p:nvPr/>
        </p:nvPicPr>
        <p:blipFill>
          <a:blip r:embed="rId4"/>
          <a:stretch>
            <a:fillRect/>
          </a:stretch>
        </p:blipFill>
        <p:spPr>
          <a:xfrm>
            <a:off x="4960620" y="3497580"/>
            <a:ext cx="228600" cy="228600"/>
          </a:xfrm>
          <a:prstGeom prst="rect">
            <a:avLst/>
          </a:prstGeom>
        </p:spPr>
      </p:pic>
      <p:sp>
        <p:nvSpPr>
          <p:cNvPr id="38" name="Text 34"/>
          <p:cNvSpPr/>
          <p:nvPr/>
        </p:nvSpPr>
        <p:spPr>
          <a:xfrm>
            <a:off x="5422392" y="3246120"/>
            <a:ext cx="2560320" cy="731520"/>
          </a:xfrm>
          <a:prstGeom prst="rect">
            <a:avLst/>
          </a:prstGeom>
          <a:noFill/>
          <a:ln/>
        </p:spPr>
        <p:txBody>
          <a:bodyPr wrap="square" rtlCol="0" anchor="ctr"/>
          <a:lstStyle/>
          <a:p>
            <a:pPr marL="0" indent="0">
              <a:buNone/>
            </a:pPr>
            <a:r>
              <a:rPr lang="en-US" sz="1250" b="1" dirty="0">
                <a:solidFill>
                  <a:srgbClr val="36454F"/>
                </a:solidFill>
                <a:latin typeface="Calibri" pitchFamily="34" charset="0"/>
                <a:ea typeface="Calibri" pitchFamily="34" charset="-122"/>
                <a:cs typeface="Calibri" pitchFamily="34" charset="-120"/>
              </a:rPr>
              <a:t>Revenue by Category</a:t>
            </a:r>
            <a:endParaRPr lang="en-US" sz="1250" dirty="0"/>
          </a:p>
        </p:txBody>
      </p:sp>
      <p:sp>
        <p:nvSpPr>
          <p:cNvPr id="39" name="Shape 35"/>
          <p:cNvSpPr/>
          <p:nvPr/>
        </p:nvSpPr>
        <p:spPr>
          <a:xfrm>
            <a:off x="8092440" y="3383280"/>
            <a:ext cx="457200" cy="457200"/>
          </a:xfrm>
          <a:prstGeom prst="ellipse">
            <a:avLst/>
          </a:prstGeom>
          <a:solidFill>
            <a:srgbClr val="1E2761"/>
          </a:solidFill>
          <a:ln/>
        </p:spPr>
      </p:sp>
      <p:pic>
        <p:nvPicPr>
          <p:cNvPr id="40" name="Image 2" descr="/home/claude/deck/icons/chartLine.png"/>
          <p:cNvPicPr>
            <a:picLocks noChangeAspect="1"/>
          </p:cNvPicPr>
          <p:nvPr/>
        </p:nvPicPr>
        <p:blipFill>
          <a:blip r:embed="rId5"/>
          <a:stretch>
            <a:fillRect/>
          </a:stretch>
        </p:blipFill>
        <p:spPr>
          <a:xfrm>
            <a:off x="8206740" y="3497580"/>
            <a:ext cx="228600" cy="228600"/>
          </a:xfrm>
          <a:prstGeom prst="rect">
            <a:avLst/>
          </a:prstGeom>
        </p:spPr>
      </p:pic>
      <p:sp>
        <p:nvSpPr>
          <p:cNvPr id="41" name="Text 36"/>
          <p:cNvSpPr/>
          <p:nvPr/>
        </p:nvSpPr>
        <p:spPr>
          <a:xfrm>
            <a:off x="8668512" y="3246120"/>
            <a:ext cx="2560320" cy="731520"/>
          </a:xfrm>
          <a:prstGeom prst="rect">
            <a:avLst/>
          </a:prstGeom>
          <a:noFill/>
          <a:ln/>
        </p:spPr>
        <p:txBody>
          <a:bodyPr wrap="square" rtlCol="0" anchor="ctr"/>
          <a:lstStyle/>
          <a:p>
            <a:pPr marL="0" indent="0">
              <a:buNone/>
            </a:pPr>
            <a:r>
              <a:rPr lang="en-US" sz="1250" b="1" dirty="0">
                <a:solidFill>
                  <a:srgbClr val="36454F"/>
                </a:solidFill>
                <a:latin typeface="Calibri" pitchFamily="34" charset="0"/>
                <a:ea typeface="Calibri" pitchFamily="34" charset="-122"/>
                <a:cs typeface="Calibri" pitchFamily="34" charset="-120"/>
              </a:rPr>
              <a:t>Monthly Sales Trend</a:t>
            </a:r>
            <a:endParaRPr lang="en-US" sz="1250" dirty="0"/>
          </a:p>
        </p:txBody>
      </p:sp>
      <p:sp>
        <p:nvSpPr>
          <p:cNvPr id="42" name="Shape 37"/>
          <p:cNvSpPr/>
          <p:nvPr/>
        </p:nvSpPr>
        <p:spPr>
          <a:xfrm>
            <a:off x="4846320" y="4221480"/>
            <a:ext cx="457200" cy="457200"/>
          </a:xfrm>
          <a:prstGeom prst="ellipse">
            <a:avLst/>
          </a:prstGeom>
          <a:solidFill>
            <a:srgbClr val="1E2761"/>
          </a:solidFill>
          <a:ln/>
        </p:spPr>
      </p:sp>
      <p:pic>
        <p:nvPicPr>
          <p:cNvPr id="43" name="Image 3" descr="/home/claude/deck/icons/trophy.png"/>
          <p:cNvPicPr>
            <a:picLocks noChangeAspect="1"/>
          </p:cNvPicPr>
          <p:nvPr/>
        </p:nvPicPr>
        <p:blipFill>
          <a:blip r:embed="rId6"/>
          <a:stretch>
            <a:fillRect/>
          </a:stretch>
        </p:blipFill>
        <p:spPr>
          <a:xfrm>
            <a:off x="4960620" y="4335780"/>
            <a:ext cx="228600" cy="228600"/>
          </a:xfrm>
          <a:prstGeom prst="rect">
            <a:avLst/>
          </a:prstGeom>
        </p:spPr>
      </p:pic>
      <p:sp>
        <p:nvSpPr>
          <p:cNvPr id="44" name="Text 38"/>
          <p:cNvSpPr/>
          <p:nvPr/>
        </p:nvSpPr>
        <p:spPr>
          <a:xfrm>
            <a:off x="5422392" y="4084320"/>
            <a:ext cx="2560320" cy="731520"/>
          </a:xfrm>
          <a:prstGeom prst="rect">
            <a:avLst/>
          </a:prstGeom>
          <a:noFill/>
          <a:ln/>
        </p:spPr>
        <p:txBody>
          <a:bodyPr wrap="square" rtlCol="0" anchor="ctr"/>
          <a:lstStyle/>
          <a:p>
            <a:pPr marL="0" indent="0">
              <a:buNone/>
            </a:pPr>
            <a:r>
              <a:rPr lang="en-US" sz="1250" b="1" dirty="0">
                <a:solidFill>
                  <a:srgbClr val="36454F"/>
                </a:solidFill>
                <a:latin typeface="Calibri" pitchFamily="34" charset="0"/>
                <a:ea typeface="Calibri" pitchFamily="34" charset="-122"/>
                <a:cs typeface="Calibri" pitchFamily="34" charset="-120"/>
              </a:rPr>
              <a:t>Top 10 Products</a:t>
            </a:r>
            <a:endParaRPr lang="en-US" sz="1250" dirty="0"/>
          </a:p>
        </p:txBody>
      </p:sp>
      <p:sp>
        <p:nvSpPr>
          <p:cNvPr id="45" name="Shape 39"/>
          <p:cNvSpPr/>
          <p:nvPr/>
        </p:nvSpPr>
        <p:spPr>
          <a:xfrm>
            <a:off x="8092440" y="4221480"/>
            <a:ext cx="457200" cy="457200"/>
          </a:xfrm>
          <a:prstGeom prst="ellipse">
            <a:avLst/>
          </a:prstGeom>
          <a:solidFill>
            <a:srgbClr val="1E2761"/>
          </a:solidFill>
          <a:ln/>
        </p:spPr>
      </p:sp>
      <p:pic>
        <p:nvPicPr>
          <p:cNvPr id="46" name="Image 4" descr="/home/claude/deck/icons/arrowDown.png"/>
          <p:cNvPicPr>
            <a:picLocks noChangeAspect="1"/>
          </p:cNvPicPr>
          <p:nvPr/>
        </p:nvPicPr>
        <p:blipFill>
          <a:blip r:embed="rId7"/>
          <a:stretch>
            <a:fillRect/>
          </a:stretch>
        </p:blipFill>
        <p:spPr>
          <a:xfrm>
            <a:off x="8206740" y="4335780"/>
            <a:ext cx="228600" cy="228600"/>
          </a:xfrm>
          <a:prstGeom prst="rect">
            <a:avLst/>
          </a:prstGeom>
        </p:spPr>
      </p:pic>
      <p:sp>
        <p:nvSpPr>
          <p:cNvPr id="47" name="Text 40"/>
          <p:cNvSpPr/>
          <p:nvPr/>
        </p:nvSpPr>
        <p:spPr>
          <a:xfrm>
            <a:off x="8668512" y="4084320"/>
            <a:ext cx="2560320" cy="731520"/>
          </a:xfrm>
          <a:prstGeom prst="rect">
            <a:avLst/>
          </a:prstGeom>
          <a:noFill/>
          <a:ln/>
        </p:spPr>
        <p:txBody>
          <a:bodyPr wrap="square" rtlCol="0" anchor="ctr"/>
          <a:lstStyle/>
          <a:p>
            <a:pPr marL="0" indent="0">
              <a:buNone/>
            </a:pPr>
            <a:r>
              <a:rPr lang="en-US" sz="1250" b="1" dirty="0">
                <a:solidFill>
                  <a:srgbClr val="36454F"/>
                </a:solidFill>
                <a:latin typeface="Calibri" pitchFamily="34" charset="0"/>
                <a:ea typeface="Calibri" pitchFamily="34" charset="-122"/>
                <a:cs typeface="Calibri" pitchFamily="34" charset="-120"/>
              </a:rPr>
              <a:t>Bottom 10 Products</a:t>
            </a:r>
            <a:endParaRPr lang="en-US" sz="1250" dirty="0"/>
          </a:p>
        </p:txBody>
      </p:sp>
      <p:sp>
        <p:nvSpPr>
          <p:cNvPr id="48" name="Shape 41"/>
          <p:cNvSpPr/>
          <p:nvPr/>
        </p:nvSpPr>
        <p:spPr>
          <a:xfrm>
            <a:off x="4846320" y="5059680"/>
            <a:ext cx="457200" cy="457200"/>
          </a:xfrm>
          <a:prstGeom prst="ellipse">
            <a:avLst/>
          </a:prstGeom>
          <a:solidFill>
            <a:srgbClr val="1E2761"/>
          </a:solidFill>
          <a:ln/>
        </p:spPr>
      </p:sp>
      <p:pic>
        <p:nvPicPr>
          <p:cNvPr id="49" name="Image 5" descr="/home/claude/deck/icons/star.png"/>
          <p:cNvPicPr>
            <a:picLocks noChangeAspect="1"/>
          </p:cNvPicPr>
          <p:nvPr/>
        </p:nvPicPr>
        <p:blipFill>
          <a:blip r:embed="rId8"/>
          <a:stretch>
            <a:fillRect/>
          </a:stretch>
        </p:blipFill>
        <p:spPr>
          <a:xfrm>
            <a:off x="4960620" y="5173980"/>
            <a:ext cx="228600" cy="228600"/>
          </a:xfrm>
          <a:prstGeom prst="rect">
            <a:avLst/>
          </a:prstGeom>
        </p:spPr>
      </p:pic>
      <p:sp>
        <p:nvSpPr>
          <p:cNvPr id="50" name="Text 42"/>
          <p:cNvSpPr/>
          <p:nvPr/>
        </p:nvSpPr>
        <p:spPr>
          <a:xfrm>
            <a:off x="5422392" y="4922520"/>
            <a:ext cx="2560320" cy="731520"/>
          </a:xfrm>
          <a:prstGeom prst="rect">
            <a:avLst/>
          </a:prstGeom>
          <a:noFill/>
          <a:ln/>
        </p:spPr>
        <p:txBody>
          <a:bodyPr wrap="square" rtlCol="0" anchor="ctr"/>
          <a:lstStyle/>
          <a:p>
            <a:pPr marL="0" indent="0">
              <a:buNone/>
            </a:pPr>
            <a:r>
              <a:rPr lang="en-US" sz="1250" b="1" dirty="0">
                <a:solidFill>
                  <a:srgbClr val="36454F"/>
                </a:solidFill>
                <a:latin typeface="Calibri" pitchFamily="34" charset="0"/>
                <a:ea typeface="Calibri" pitchFamily="34" charset="-122"/>
                <a:cs typeface="Calibri" pitchFamily="34" charset="-120"/>
              </a:rPr>
              <a:t>Average Review Rating</a:t>
            </a:r>
            <a:endParaRPr lang="en-US" sz="1250" dirty="0"/>
          </a:p>
        </p:txBody>
      </p:sp>
      <p:sp>
        <p:nvSpPr>
          <p:cNvPr id="51" name="Shape 43"/>
          <p:cNvSpPr/>
          <p:nvPr/>
        </p:nvSpPr>
        <p:spPr>
          <a:xfrm>
            <a:off x="8092440" y="5059680"/>
            <a:ext cx="457200" cy="457200"/>
          </a:xfrm>
          <a:prstGeom prst="ellipse">
            <a:avLst/>
          </a:prstGeom>
          <a:solidFill>
            <a:srgbClr val="1E2761"/>
          </a:solidFill>
          <a:ln/>
        </p:spPr>
      </p:sp>
      <p:pic>
        <p:nvPicPr>
          <p:cNvPr id="52" name="Image 6" descr="/home/claude/deck/icons/filter.png"/>
          <p:cNvPicPr>
            <a:picLocks noChangeAspect="1"/>
          </p:cNvPicPr>
          <p:nvPr/>
        </p:nvPicPr>
        <p:blipFill>
          <a:blip r:embed="rId9"/>
          <a:stretch>
            <a:fillRect/>
          </a:stretch>
        </p:blipFill>
        <p:spPr>
          <a:xfrm>
            <a:off x="8206740" y="5173980"/>
            <a:ext cx="228600" cy="228600"/>
          </a:xfrm>
          <a:prstGeom prst="rect">
            <a:avLst/>
          </a:prstGeom>
        </p:spPr>
      </p:pic>
      <p:sp>
        <p:nvSpPr>
          <p:cNvPr id="53" name="Text 44"/>
          <p:cNvSpPr/>
          <p:nvPr/>
        </p:nvSpPr>
        <p:spPr>
          <a:xfrm>
            <a:off x="8668512" y="4922520"/>
            <a:ext cx="2560320" cy="731520"/>
          </a:xfrm>
          <a:prstGeom prst="rect">
            <a:avLst/>
          </a:prstGeom>
          <a:noFill/>
          <a:ln/>
        </p:spPr>
        <p:txBody>
          <a:bodyPr wrap="square" rtlCol="0" anchor="ctr"/>
          <a:lstStyle/>
          <a:p>
            <a:pPr marL="0" indent="0">
              <a:buNone/>
            </a:pPr>
            <a:r>
              <a:rPr lang="en-US" sz="1250" b="1" dirty="0">
                <a:solidFill>
                  <a:srgbClr val="36454F"/>
                </a:solidFill>
                <a:latin typeface="Calibri" pitchFamily="34" charset="0"/>
                <a:ea typeface="Calibri" pitchFamily="34" charset="-122"/>
                <a:cs typeface="Calibri" pitchFamily="34" charset="-120"/>
              </a:rPr>
              <a:t>Category Slicer (Interactive Filter)</a:t>
            </a:r>
            <a:endParaRPr lang="en-US" sz="1250" dirty="0"/>
          </a:p>
        </p:txBody>
      </p:sp>
      <p:sp>
        <p:nvSpPr>
          <p:cNvPr id="54" name="Text 45"/>
          <p:cNvSpPr/>
          <p:nvPr/>
        </p:nvSpPr>
        <p:spPr>
          <a:xfrm>
            <a:off x="457200" y="6473952"/>
            <a:ext cx="7315200" cy="274320"/>
          </a:xfrm>
          <a:prstGeom prst="rect">
            <a:avLst/>
          </a:prstGeom>
          <a:noFill/>
          <a:ln/>
        </p:spPr>
        <p:txBody>
          <a:bodyPr wrap="square" rtlCol="0" anchor="ctr"/>
          <a:lstStyle/>
          <a:p>
            <a:pPr marL="0" indent="0">
              <a:buNone/>
            </a:pPr>
            <a:r>
              <a:rPr lang="en-US" sz="900" kern="0" spc="100" dirty="0">
                <a:solidFill>
                  <a:srgbClr val="A6ADB8"/>
                </a:solidFill>
                <a:latin typeface="Calibri" pitchFamily="34" charset="0"/>
                <a:ea typeface="Calibri" pitchFamily="34" charset="-122"/>
                <a:cs typeface="Calibri" pitchFamily="34" charset="-120"/>
              </a:rPr>
              <a:t>E-COMMERCE SALES ANALYTICS DASHBOARD</a:t>
            </a:r>
            <a:endParaRPr lang="en-US" sz="900" dirty="0"/>
          </a:p>
        </p:txBody>
      </p:sp>
      <p:sp>
        <p:nvSpPr>
          <p:cNvPr id="55" name="Text 46"/>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A6ADB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a:ln/>
        </p:spPr>
        <p:txBody>
          <a:bodyPr wrap="square" rtlCol="0" anchor="ctr"/>
          <a:lstStyle/>
          <a:p>
            <a:pPr marL="0" indent="0">
              <a:buNone/>
            </a:pPr>
            <a:r>
              <a:rPr lang="en-US" sz="1200" b="1" kern="0" spc="150" dirty="0">
                <a:solidFill>
                  <a:srgbClr val="3D6FB4"/>
                </a:solidFill>
                <a:latin typeface="Calibri" pitchFamily="34" charset="0"/>
                <a:ea typeface="Calibri" pitchFamily="34" charset="-122"/>
                <a:cs typeface="Calibri" pitchFamily="34" charset="-120"/>
              </a:rPr>
              <a:t>KEY INSIGHTS</a:t>
            </a:r>
            <a:endParaRPr lang="en-US" sz="1200" dirty="0"/>
          </a:p>
        </p:txBody>
      </p:sp>
      <p:sp>
        <p:nvSpPr>
          <p:cNvPr id="3" name="Text 1"/>
          <p:cNvSpPr/>
          <p:nvPr/>
        </p:nvSpPr>
        <p:spPr>
          <a:xfrm>
            <a:off x="59436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Key Insights Generated</a:t>
            </a:r>
            <a:endParaRPr lang="en-US" sz="3000" dirty="0"/>
          </a:p>
        </p:txBody>
      </p:sp>
      <p:sp>
        <p:nvSpPr>
          <p:cNvPr id="4" name="Text 2"/>
          <p:cNvSpPr/>
          <p:nvPr/>
        </p:nvSpPr>
        <p:spPr>
          <a:xfrm>
            <a:off x="621792" y="1280160"/>
            <a:ext cx="10058400" cy="365760"/>
          </a:xfrm>
          <a:prstGeom prst="rect">
            <a:avLst/>
          </a:prstGeom>
          <a:noFill/>
          <a:ln/>
        </p:spPr>
        <p:txBody>
          <a:bodyPr wrap="square" rtlCol="0" anchor="ctr"/>
          <a:lstStyle/>
          <a:p>
            <a:pPr marL="0" indent="0">
              <a:buNone/>
            </a:pPr>
            <a:r>
              <a:rPr lang="en-US" sz="1350" i="1" dirty="0">
                <a:solidFill>
                  <a:srgbClr val="6B7785"/>
                </a:solidFill>
                <a:latin typeface="Calibri" pitchFamily="34" charset="0"/>
                <a:ea typeface="Calibri" pitchFamily="34" charset="-122"/>
                <a:cs typeface="Calibri" pitchFamily="34" charset="-120"/>
              </a:rPr>
              <a:t>Six core questions the dashboard answers for management, every time it's opened.</a:t>
            </a:r>
            <a:endParaRPr lang="en-US" sz="1350" dirty="0"/>
          </a:p>
        </p:txBody>
      </p:sp>
      <p:sp>
        <p:nvSpPr>
          <p:cNvPr id="5" name="Shape 3"/>
          <p:cNvSpPr/>
          <p:nvPr/>
        </p:nvSpPr>
        <p:spPr>
          <a:xfrm>
            <a:off x="768096" y="2093976"/>
            <a:ext cx="3386328" cy="1847088"/>
          </a:xfrm>
          <a:prstGeom prst="roundRect">
            <a:avLst>
              <a:gd name="adj" fmla="val 3465"/>
            </a:avLst>
          </a:prstGeom>
          <a:solidFill>
            <a:srgbClr val="1E2761"/>
          </a:solidFill>
          <a:ln/>
        </p:spPr>
      </p:sp>
      <p:sp>
        <p:nvSpPr>
          <p:cNvPr id="6" name="Shape 4"/>
          <p:cNvSpPr/>
          <p:nvPr/>
        </p:nvSpPr>
        <p:spPr>
          <a:xfrm>
            <a:off x="1024128" y="2350008"/>
            <a:ext cx="548640" cy="548640"/>
          </a:xfrm>
          <a:prstGeom prst="ellipse">
            <a:avLst/>
          </a:prstGeom>
          <a:solidFill>
            <a:srgbClr val="3D6FB4"/>
          </a:solidFill>
          <a:ln/>
        </p:spPr>
      </p:sp>
      <p:pic>
        <p:nvPicPr>
          <p:cNvPr id="7" name="Image 0" descr="/home/claude/deck/icons/gauge.png"/>
          <p:cNvPicPr>
            <a:picLocks noChangeAspect="1"/>
          </p:cNvPicPr>
          <p:nvPr/>
        </p:nvPicPr>
        <p:blipFill>
          <a:blip r:embed="rId3"/>
          <a:stretch>
            <a:fillRect/>
          </a:stretch>
        </p:blipFill>
        <p:spPr>
          <a:xfrm>
            <a:off x="1147572" y="2473452"/>
            <a:ext cx="301752" cy="301752"/>
          </a:xfrm>
          <a:prstGeom prst="rect">
            <a:avLst/>
          </a:prstGeom>
        </p:spPr>
      </p:pic>
      <p:sp>
        <p:nvSpPr>
          <p:cNvPr id="8" name="Text 5"/>
          <p:cNvSpPr/>
          <p:nvPr/>
        </p:nvSpPr>
        <p:spPr>
          <a:xfrm>
            <a:off x="1024128" y="3054096"/>
            <a:ext cx="2874264" cy="704088"/>
          </a:xfrm>
          <a:prstGeom prst="rect">
            <a:avLst/>
          </a:prstGeom>
          <a:noFill/>
          <a:ln/>
        </p:spPr>
        <p:txBody>
          <a:bodyPr wrap="square" rtlCol="0" anchor="t"/>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What is our overall sales performance?</a:t>
            </a:r>
            <a:endParaRPr lang="en-US" sz="1350" dirty="0"/>
          </a:p>
        </p:txBody>
      </p:sp>
      <p:sp>
        <p:nvSpPr>
          <p:cNvPr id="9" name="Shape 6"/>
          <p:cNvSpPr/>
          <p:nvPr/>
        </p:nvSpPr>
        <p:spPr>
          <a:xfrm>
            <a:off x="4410456" y="2093976"/>
            <a:ext cx="3386328" cy="1847088"/>
          </a:xfrm>
          <a:prstGeom prst="roundRect">
            <a:avLst>
              <a:gd name="adj" fmla="val 3465"/>
            </a:avLst>
          </a:prstGeom>
          <a:solidFill>
            <a:srgbClr val="1E2761"/>
          </a:solidFill>
          <a:ln/>
        </p:spPr>
      </p:sp>
      <p:sp>
        <p:nvSpPr>
          <p:cNvPr id="10" name="Shape 7"/>
          <p:cNvSpPr/>
          <p:nvPr/>
        </p:nvSpPr>
        <p:spPr>
          <a:xfrm>
            <a:off x="4666488" y="2350008"/>
            <a:ext cx="548640" cy="548640"/>
          </a:xfrm>
          <a:prstGeom prst="ellipse">
            <a:avLst/>
          </a:prstGeom>
          <a:solidFill>
            <a:srgbClr val="3D6FB4"/>
          </a:solidFill>
          <a:ln/>
        </p:spPr>
      </p:sp>
      <p:pic>
        <p:nvPicPr>
          <p:cNvPr id="11" name="Image 1" descr="/home/claude/deck/icons/chartBar.png"/>
          <p:cNvPicPr>
            <a:picLocks noChangeAspect="1"/>
          </p:cNvPicPr>
          <p:nvPr/>
        </p:nvPicPr>
        <p:blipFill>
          <a:blip r:embed="rId4"/>
          <a:stretch>
            <a:fillRect/>
          </a:stretch>
        </p:blipFill>
        <p:spPr>
          <a:xfrm>
            <a:off x="4789932" y="2473452"/>
            <a:ext cx="301752" cy="301752"/>
          </a:xfrm>
          <a:prstGeom prst="rect">
            <a:avLst/>
          </a:prstGeom>
        </p:spPr>
      </p:pic>
      <p:sp>
        <p:nvSpPr>
          <p:cNvPr id="12" name="Text 8"/>
          <p:cNvSpPr/>
          <p:nvPr/>
        </p:nvSpPr>
        <p:spPr>
          <a:xfrm>
            <a:off x="4666488" y="3054096"/>
            <a:ext cx="2874264" cy="704088"/>
          </a:xfrm>
          <a:prstGeom prst="rect">
            <a:avLst/>
          </a:prstGeom>
          <a:noFill/>
          <a:ln/>
        </p:spPr>
        <p:txBody>
          <a:bodyPr wrap="square" rtlCol="0" anchor="t"/>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Which categories contribute the most revenue?</a:t>
            </a:r>
            <a:endParaRPr lang="en-US" sz="1350" dirty="0"/>
          </a:p>
        </p:txBody>
      </p:sp>
      <p:sp>
        <p:nvSpPr>
          <p:cNvPr id="13" name="Shape 9"/>
          <p:cNvSpPr/>
          <p:nvPr/>
        </p:nvSpPr>
        <p:spPr>
          <a:xfrm>
            <a:off x="8052816" y="2093976"/>
            <a:ext cx="3386328" cy="1847088"/>
          </a:xfrm>
          <a:prstGeom prst="roundRect">
            <a:avLst>
              <a:gd name="adj" fmla="val 3465"/>
            </a:avLst>
          </a:prstGeom>
          <a:solidFill>
            <a:srgbClr val="1E2761"/>
          </a:solidFill>
          <a:ln/>
        </p:spPr>
      </p:sp>
      <p:sp>
        <p:nvSpPr>
          <p:cNvPr id="14" name="Shape 10"/>
          <p:cNvSpPr/>
          <p:nvPr/>
        </p:nvSpPr>
        <p:spPr>
          <a:xfrm>
            <a:off x="8308848" y="2350008"/>
            <a:ext cx="548640" cy="548640"/>
          </a:xfrm>
          <a:prstGeom prst="ellipse">
            <a:avLst/>
          </a:prstGeom>
          <a:solidFill>
            <a:srgbClr val="3D6FB4"/>
          </a:solidFill>
          <a:ln/>
        </p:spPr>
      </p:sp>
      <p:pic>
        <p:nvPicPr>
          <p:cNvPr id="15" name="Image 2" descr="/home/claude/deck/icons/chartLine.png"/>
          <p:cNvPicPr>
            <a:picLocks noChangeAspect="1"/>
          </p:cNvPicPr>
          <p:nvPr/>
        </p:nvPicPr>
        <p:blipFill>
          <a:blip r:embed="rId5"/>
          <a:stretch>
            <a:fillRect/>
          </a:stretch>
        </p:blipFill>
        <p:spPr>
          <a:xfrm>
            <a:off x="8432292" y="2473452"/>
            <a:ext cx="301752" cy="301752"/>
          </a:xfrm>
          <a:prstGeom prst="rect">
            <a:avLst/>
          </a:prstGeom>
        </p:spPr>
      </p:pic>
      <p:sp>
        <p:nvSpPr>
          <p:cNvPr id="16" name="Text 11"/>
          <p:cNvSpPr/>
          <p:nvPr/>
        </p:nvSpPr>
        <p:spPr>
          <a:xfrm>
            <a:off x="8308848" y="3054096"/>
            <a:ext cx="2874264" cy="704088"/>
          </a:xfrm>
          <a:prstGeom prst="rect">
            <a:avLst/>
          </a:prstGeom>
          <a:noFill/>
          <a:ln/>
        </p:spPr>
        <p:txBody>
          <a:bodyPr wrap="square" rtlCol="0" anchor="t"/>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How do sales change throughout the year?</a:t>
            </a:r>
            <a:endParaRPr lang="en-US" sz="1350" dirty="0"/>
          </a:p>
        </p:txBody>
      </p:sp>
      <p:sp>
        <p:nvSpPr>
          <p:cNvPr id="17" name="Shape 12"/>
          <p:cNvSpPr/>
          <p:nvPr/>
        </p:nvSpPr>
        <p:spPr>
          <a:xfrm>
            <a:off x="768096" y="4197096"/>
            <a:ext cx="3386328" cy="1847088"/>
          </a:xfrm>
          <a:prstGeom prst="roundRect">
            <a:avLst>
              <a:gd name="adj" fmla="val 3465"/>
            </a:avLst>
          </a:prstGeom>
          <a:solidFill>
            <a:srgbClr val="1E2761"/>
          </a:solidFill>
          <a:ln/>
        </p:spPr>
      </p:sp>
      <p:sp>
        <p:nvSpPr>
          <p:cNvPr id="18" name="Shape 13"/>
          <p:cNvSpPr/>
          <p:nvPr/>
        </p:nvSpPr>
        <p:spPr>
          <a:xfrm>
            <a:off x="1024128" y="4453128"/>
            <a:ext cx="548640" cy="548640"/>
          </a:xfrm>
          <a:prstGeom prst="ellipse">
            <a:avLst/>
          </a:prstGeom>
          <a:solidFill>
            <a:srgbClr val="3D6FB4"/>
          </a:solidFill>
          <a:ln/>
        </p:spPr>
      </p:sp>
      <p:pic>
        <p:nvPicPr>
          <p:cNvPr id="19" name="Image 3" descr="/home/claude/deck/icons/trophy.png"/>
          <p:cNvPicPr>
            <a:picLocks noChangeAspect="1"/>
          </p:cNvPicPr>
          <p:nvPr/>
        </p:nvPicPr>
        <p:blipFill>
          <a:blip r:embed="rId6"/>
          <a:stretch>
            <a:fillRect/>
          </a:stretch>
        </p:blipFill>
        <p:spPr>
          <a:xfrm>
            <a:off x="1147572" y="4576572"/>
            <a:ext cx="301752" cy="301752"/>
          </a:xfrm>
          <a:prstGeom prst="rect">
            <a:avLst/>
          </a:prstGeom>
        </p:spPr>
      </p:pic>
      <p:sp>
        <p:nvSpPr>
          <p:cNvPr id="20" name="Text 14"/>
          <p:cNvSpPr/>
          <p:nvPr/>
        </p:nvSpPr>
        <p:spPr>
          <a:xfrm>
            <a:off x="1024128" y="5157216"/>
            <a:ext cx="2874264" cy="704088"/>
          </a:xfrm>
          <a:prstGeom prst="rect">
            <a:avLst/>
          </a:prstGeom>
          <a:noFill/>
          <a:ln/>
        </p:spPr>
        <p:txBody>
          <a:bodyPr wrap="square" rtlCol="0" anchor="t"/>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Which products are the best and worst performers?</a:t>
            </a:r>
            <a:endParaRPr lang="en-US" sz="1350" dirty="0"/>
          </a:p>
        </p:txBody>
      </p:sp>
      <p:sp>
        <p:nvSpPr>
          <p:cNvPr id="21" name="Shape 15"/>
          <p:cNvSpPr/>
          <p:nvPr/>
        </p:nvSpPr>
        <p:spPr>
          <a:xfrm>
            <a:off x="4410456" y="4197096"/>
            <a:ext cx="3386328" cy="1847088"/>
          </a:xfrm>
          <a:prstGeom prst="roundRect">
            <a:avLst>
              <a:gd name="adj" fmla="val 3465"/>
            </a:avLst>
          </a:prstGeom>
          <a:solidFill>
            <a:srgbClr val="1E2761"/>
          </a:solidFill>
          <a:ln/>
        </p:spPr>
      </p:sp>
      <p:sp>
        <p:nvSpPr>
          <p:cNvPr id="22" name="Shape 16"/>
          <p:cNvSpPr/>
          <p:nvPr/>
        </p:nvSpPr>
        <p:spPr>
          <a:xfrm>
            <a:off x="4666488" y="4453128"/>
            <a:ext cx="548640" cy="548640"/>
          </a:xfrm>
          <a:prstGeom prst="ellipse">
            <a:avLst/>
          </a:prstGeom>
          <a:solidFill>
            <a:srgbClr val="3D6FB4"/>
          </a:solidFill>
          <a:ln/>
        </p:spPr>
      </p:sp>
      <p:pic>
        <p:nvPicPr>
          <p:cNvPr id="23" name="Image 4" descr="/home/claude/deck/icons/smile.png"/>
          <p:cNvPicPr>
            <a:picLocks noChangeAspect="1"/>
          </p:cNvPicPr>
          <p:nvPr/>
        </p:nvPicPr>
        <p:blipFill>
          <a:blip r:embed="rId7"/>
          <a:stretch>
            <a:fillRect/>
          </a:stretch>
        </p:blipFill>
        <p:spPr>
          <a:xfrm>
            <a:off x="4789932" y="4576572"/>
            <a:ext cx="301752" cy="301752"/>
          </a:xfrm>
          <a:prstGeom prst="rect">
            <a:avLst/>
          </a:prstGeom>
        </p:spPr>
      </p:pic>
      <p:sp>
        <p:nvSpPr>
          <p:cNvPr id="24" name="Text 17"/>
          <p:cNvSpPr/>
          <p:nvPr/>
        </p:nvSpPr>
        <p:spPr>
          <a:xfrm>
            <a:off x="4666488" y="5157216"/>
            <a:ext cx="2874264" cy="704088"/>
          </a:xfrm>
          <a:prstGeom prst="rect">
            <a:avLst/>
          </a:prstGeom>
          <a:noFill/>
          <a:ln/>
        </p:spPr>
        <p:txBody>
          <a:bodyPr wrap="square" rtlCol="0" anchor="t"/>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How satisfied are customers, based on reviews?</a:t>
            </a:r>
            <a:endParaRPr lang="en-US" sz="1350" dirty="0"/>
          </a:p>
        </p:txBody>
      </p:sp>
      <p:sp>
        <p:nvSpPr>
          <p:cNvPr id="25" name="Shape 18"/>
          <p:cNvSpPr/>
          <p:nvPr/>
        </p:nvSpPr>
        <p:spPr>
          <a:xfrm>
            <a:off x="8052816" y="4197096"/>
            <a:ext cx="3386328" cy="1847088"/>
          </a:xfrm>
          <a:prstGeom prst="roundRect">
            <a:avLst>
              <a:gd name="adj" fmla="val 3465"/>
            </a:avLst>
          </a:prstGeom>
          <a:solidFill>
            <a:srgbClr val="1E2761"/>
          </a:solidFill>
          <a:ln/>
        </p:spPr>
      </p:sp>
      <p:sp>
        <p:nvSpPr>
          <p:cNvPr id="26" name="Shape 19"/>
          <p:cNvSpPr/>
          <p:nvPr/>
        </p:nvSpPr>
        <p:spPr>
          <a:xfrm>
            <a:off x="8308848" y="4453128"/>
            <a:ext cx="548640" cy="548640"/>
          </a:xfrm>
          <a:prstGeom prst="ellipse">
            <a:avLst/>
          </a:prstGeom>
          <a:solidFill>
            <a:srgbClr val="3D6FB4"/>
          </a:solidFill>
          <a:ln/>
        </p:spPr>
      </p:sp>
      <p:pic>
        <p:nvPicPr>
          <p:cNvPr id="27" name="Image 5" descr="/home/claude/deck/icons/triangleExclaim.png"/>
          <p:cNvPicPr>
            <a:picLocks noChangeAspect="1"/>
          </p:cNvPicPr>
          <p:nvPr/>
        </p:nvPicPr>
        <p:blipFill>
          <a:blip r:embed="rId8"/>
          <a:stretch>
            <a:fillRect/>
          </a:stretch>
        </p:blipFill>
        <p:spPr>
          <a:xfrm>
            <a:off x="8432292" y="4576572"/>
            <a:ext cx="301752" cy="301752"/>
          </a:xfrm>
          <a:prstGeom prst="rect">
            <a:avLst/>
          </a:prstGeom>
        </p:spPr>
      </p:pic>
      <p:sp>
        <p:nvSpPr>
          <p:cNvPr id="28" name="Text 20"/>
          <p:cNvSpPr/>
          <p:nvPr/>
        </p:nvSpPr>
        <p:spPr>
          <a:xfrm>
            <a:off x="8308848" y="5157216"/>
            <a:ext cx="2874264" cy="704088"/>
          </a:xfrm>
          <a:prstGeom prst="rect">
            <a:avLst/>
          </a:prstGeom>
          <a:noFill/>
          <a:ln/>
        </p:spPr>
        <p:txBody>
          <a:bodyPr wrap="square" rtlCol="0" anchor="t"/>
          <a:lstStyle/>
          <a:p>
            <a:pPr marL="0" indent="0">
              <a:lnSpc>
                <a:spcPts val="1700"/>
              </a:lnSpc>
              <a:buNone/>
            </a:pPr>
            <a:r>
              <a:rPr lang="en-US" sz="1350" dirty="0">
                <a:solidFill>
                  <a:srgbClr val="FFFFFF"/>
                </a:solidFill>
                <a:latin typeface="Calibri" pitchFamily="34" charset="0"/>
                <a:ea typeface="Calibri" pitchFamily="34" charset="-122"/>
                <a:cs typeface="Calibri" pitchFamily="34" charset="-120"/>
              </a:rPr>
              <a:t>Which areas need immediate business attention?</a:t>
            </a:r>
            <a:endParaRPr lang="en-US" sz="1350" dirty="0"/>
          </a:p>
        </p:txBody>
      </p:sp>
      <p:sp>
        <p:nvSpPr>
          <p:cNvPr id="29" name="Text 21"/>
          <p:cNvSpPr/>
          <p:nvPr/>
        </p:nvSpPr>
        <p:spPr>
          <a:xfrm>
            <a:off x="457200" y="6473952"/>
            <a:ext cx="7315200" cy="274320"/>
          </a:xfrm>
          <a:prstGeom prst="rect">
            <a:avLst/>
          </a:prstGeom>
          <a:noFill/>
          <a:ln/>
        </p:spPr>
        <p:txBody>
          <a:bodyPr wrap="square" rtlCol="0" anchor="ctr"/>
          <a:lstStyle/>
          <a:p>
            <a:pPr marL="0" indent="0">
              <a:buNone/>
            </a:pPr>
            <a:r>
              <a:rPr lang="en-US" sz="900" kern="0" spc="100" dirty="0">
                <a:solidFill>
                  <a:srgbClr val="A6ADB8"/>
                </a:solidFill>
                <a:latin typeface="Calibri" pitchFamily="34" charset="0"/>
                <a:ea typeface="Calibri" pitchFamily="34" charset="-122"/>
                <a:cs typeface="Calibri" pitchFamily="34" charset="-120"/>
              </a:rPr>
              <a:t>E-COMMERCE SALES ANALYTICS DASHBOARD</a:t>
            </a:r>
            <a:endParaRPr lang="en-US" sz="900" dirty="0"/>
          </a:p>
        </p:txBody>
      </p:sp>
      <p:sp>
        <p:nvSpPr>
          <p:cNvPr id="30" name="Text 22"/>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A6ADB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5486400" cy="274320"/>
          </a:xfrm>
          <a:prstGeom prst="rect">
            <a:avLst/>
          </a:prstGeom>
          <a:noFill/>
          <a:ln/>
        </p:spPr>
        <p:txBody>
          <a:bodyPr wrap="square" rtlCol="0" anchor="ctr"/>
          <a:lstStyle/>
          <a:p>
            <a:pPr marL="0" indent="0">
              <a:buNone/>
            </a:pPr>
            <a:r>
              <a:rPr lang="en-US" sz="1200" b="1" kern="0" spc="150" dirty="0">
                <a:solidFill>
                  <a:srgbClr val="3D6FB4"/>
                </a:solidFill>
                <a:latin typeface="Calibri" pitchFamily="34" charset="0"/>
                <a:ea typeface="Calibri" pitchFamily="34" charset="-122"/>
                <a:cs typeface="Calibri" pitchFamily="34" charset="-120"/>
              </a:rPr>
              <a:t>BUSINESS VALUE</a:t>
            </a:r>
            <a:endParaRPr lang="en-US" sz="1200" dirty="0"/>
          </a:p>
        </p:txBody>
      </p:sp>
      <p:sp>
        <p:nvSpPr>
          <p:cNvPr id="3" name="Text 1"/>
          <p:cNvSpPr/>
          <p:nvPr/>
        </p:nvSpPr>
        <p:spPr>
          <a:xfrm>
            <a:off x="594360" y="658368"/>
            <a:ext cx="10515600" cy="64008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How These Insights Help the Business</a:t>
            </a:r>
            <a:endParaRPr lang="en-US" sz="3000" dirty="0"/>
          </a:p>
        </p:txBody>
      </p:sp>
      <p:sp>
        <p:nvSpPr>
          <p:cNvPr id="4" name="Shape 2"/>
          <p:cNvSpPr/>
          <p:nvPr/>
        </p:nvSpPr>
        <p:spPr>
          <a:xfrm>
            <a:off x="640080" y="1600200"/>
            <a:ext cx="3383280" cy="4297680"/>
          </a:xfrm>
          <a:prstGeom prst="roundRect">
            <a:avLst>
              <a:gd name="adj" fmla="val 2162"/>
            </a:avLst>
          </a:prstGeom>
          <a:solidFill>
            <a:srgbClr val="E7EDF9"/>
          </a:solidFill>
          <a:ln/>
        </p:spPr>
      </p:sp>
      <p:sp>
        <p:nvSpPr>
          <p:cNvPr id="5" name="Shape 3"/>
          <p:cNvSpPr/>
          <p:nvPr/>
        </p:nvSpPr>
        <p:spPr>
          <a:xfrm>
            <a:off x="1645920" y="2240280"/>
            <a:ext cx="1371600" cy="1371600"/>
          </a:xfrm>
          <a:prstGeom prst="ellipse">
            <a:avLst/>
          </a:prstGeom>
          <a:solidFill>
            <a:srgbClr val="1E2761"/>
          </a:solidFill>
          <a:ln/>
        </p:spPr>
      </p:sp>
      <p:pic>
        <p:nvPicPr>
          <p:cNvPr id="6" name="Image 0" descr="/home/claude/deck/icons/compass.png"/>
          <p:cNvPicPr>
            <a:picLocks noChangeAspect="1"/>
          </p:cNvPicPr>
          <p:nvPr/>
        </p:nvPicPr>
        <p:blipFill>
          <a:blip r:embed="rId3"/>
          <a:stretch>
            <a:fillRect/>
          </a:stretch>
        </p:blipFill>
        <p:spPr>
          <a:xfrm>
            <a:off x="1954530" y="2548890"/>
            <a:ext cx="754380" cy="754380"/>
          </a:xfrm>
          <a:prstGeom prst="rect">
            <a:avLst/>
          </a:prstGeom>
        </p:spPr>
      </p:pic>
      <p:sp>
        <p:nvSpPr>
          <p:cNvPr id="7" name="Text 4"/>
          <p:cNvSpPr/>
          <p:nvPr/>
        </p:nvSpPr>
        <p:spPr>
          <a:xfrm>
            <a:off x="868680" y="3840480"/>
            <a:ext cx="2926080" cy="365760"/>
          </a:xfrm>
          <a:prstGeom prst="rect">
            <a:avLst/>
          </a:prstGeom>
          <a:noFill/>
          <a:ln/>
        </p:spPr>
        <p:txBody>
          <a:bodyPr wrap="square" rtlCol="0" anchor="ctr"/>
          <a:lstStyle/>
          <a:p>
            <a:pPr marL="0" indent="0" algn="ctr">
              <a:buNone/>
            </a:pPr>
            <a:r>
              <a:rPr lang="en-US" sz="1500" b="1" dirty="0">
                <a:solidFill>
                  <a:srgbClr val="1E2761"/>
                </a:solidFill>
                <a:latin typeface="Calibri" pitchFamily="34" charset="0"/>
                <a:ea typeface="Calibri" pitchFamily="34" charset="-122"/>
                <a:cs typeface="Calibri" pitchFamily="34" charset="-120"/>
              </a:rPr>
              <a:t>From Insight to Action</a:t>
            </a:r>
            <a:endParaRPr lang="en-US" sz="1500" dirty="0"/>
          </a:p>
        </p:txBody>
      </p:sp>
      <p:sp>
        <p:nvSpPr>
          <p:cNvPr id="8" name="Text 5"/>
          <p:cNvSpPr/>
          <p:nvPr/>
        </p:nvSpPr>
        <p:spPr>
          <a:xfrm>
            <a:off x="960120" y="4297680"/>
            <a:ext cx="2743200" cy="1280160"/>
          </a:xfrm>
          <a:prstGeom prst="rect">
            <a:avLst/>
          </a:prstGeom>
          <a:noFill/>
          <a:ln/>
        </p:spPr>
        <p:txBody>
          <a:bodyPr wrap="square" rtlCol="0" anchor="ctr"/>
          <a:lstStyle/>
          <a:p>
            <a:pPr marL="0" indent="0" algn="ctr">
              <a:lnSpc>
                <a:spcPts val="1600"/>
              </a:lnSpc>
              <a:buNone/>
            </a:pPr>
            <a:r>
              <a:rPr lang="en-US" sz="1200" dirty="0">
                <a:solidFill>
                  <a:srgbClr val="36454F"/>
                </a:solidFill>
                <a:latin typeface="Calibri" pitchFamily="34" charset="0"/>
                <a:ea typeface="Calibri" pitchFamily="34" charset="-122"/>
                <a:cs typeface="Calibri" pitchFamily="34" charset="-120"/>
              </a:rPr>
              <a:t>Every insight on the dashboard maps directly to a management decision — closing the loop between data and action.</a:t>
            </a:r>
            <a:endParaRPr lang="en-US" sz="1200" dirty="0"/>
          </a:p>
        </p:txBody>
      </p:sp>
      <p:sp>
        <p:nvSpPr>
          <p:cNvPr id="9" name="Shape 6"/>
          <p:cNvSpPr/>
          <p:nvPr/>
        </p:nvSpPr>
        <p:spPr>
          <a:xfrm rot="5400000">
            <a:off x="2249424" y="5577840"/>
            <a:ext cx="164592" cy="146304"/>
          </a:xfrm>
          <a:prstGeom prst="rtTriangle">
            <a:avLst/>
          </a:prstGeom>
          <a:solidFill>
            <a:srgbClr val="3D6FB4"/>
          </a:solidFill>
          <a:ln/>
        </p:spPr>
      </p:sp>
      <p:sp>
        <p:nvSpPr>
          <p:cNvPr id="10" name="Shape 7"/>
          <p:cNvSpPr/>
          <p:nvPr/>
        </p:nvSpPr>
        <p:spPr>
          <a:xfrm rot="5400000">
            <a:off x="2249424" y="5833872"/>
            <a:ext cx="164592" cy="146304"/>
          </a:xfrm>
          <a:prstGeom prst="rtTriangle">
            <a:avLst/>
          </a:prstGeom>
          <a:solidFill>
            <a:srgbClr val="3D6FB4"/>
          </a:solidFill>
          <a:ln/>
        </p:spPr>
      </p:sp>
      <p:sp>
        <p:nvSpPr>
          <p:cNvPr id="11" name="Shape 8"/>
          <p:cNvSpPr/>
          <p:nvPr/>
        </p:nvSpPr>
        <p:spPr>
          <a:xfrm rot="5400000">
            <a:off x="2249424" y="6089904"/>
            <a:ext cx="164592" cy="146304"/>
          </a:xfrm>
          <a:prstGeom prst="rtTriangle">
            <a:avLst/>
          </a:prstGeom>
          <a:solidFill>
            <a:srgbClr val="3D6FB4"/>
          </a:solidFill>
          <a:ln/>
        </p:spPr>
      </p:sp>
      <p:sp>
        <p:nvSpPr>
          <p:cNvPr id="12" name="Shape 9"/>
          <p:cNvSpPr/>
          <p:nvPr/>
        </p:nvSpPr>
        <p:spPr>
          <a:xfrm>
            <a:off x="4297680" y="1600200"/>
            <a:ext cx="3451860" cy="1267968"/>
          </a:xfrm>
          <a:prstGeom prst="roundRect">
            <a:avLst>
              <a:gd name="adj" fmla="val 4327"/>
            </a:avLst>
          </a:prstGeom>
          <a:solidFill>
            <a:srgbClr val="FFFFFF"/>
          </a:solidFill>
          <a:ln w="12700">
            <a:solidFill>
              <a:srgbClr val="E3E8F2"/>
            </a:solidFill>
            <a:prstDash val="solid"/>
          </a:ln>
        </p:spPr>
      </p:sp>
      <p:sp>
        <p:nvSpPr>
          <p:cNvPr id="13" name="Shape 10"/>
          <p:cNvSpPr/>
          <p:nvPr/>
        </p:nvSpPr>
        <p:spPr>
          <a:xfrm>
            <a:off x="4480560" y="1982724"/>
            <a:ext cx="502920" cy="502920"/>
          </a:xfrm>
          <a:prstGeom prst="ellipse">
            <a:avLst/>
          </a:prstGeom>
          <a:solidFill>
            <a:srgbClr val="1E2761"/>
          </a:solidFill>
          <a:ln/>
        </p:spPr>
      </p:sp>
      <p:pic>
        <p:nvPicPr>
          <p:cNvPr id="14" name="Image 1" descr="/home/claude/deck/icons/warehouse.png"/>
          <p:cNvPicPr>
            <a:picLocks noChangeAspect="1"/>
          </p:cNvPicPr>
          <p:nvPr/>
        </p:nvPicPr>
        <p:blipFill>
          <a:blip r:embed="rId4"/>
          <a:stretch>
            <a:fillRect/>
          </a:stretch>
        </p:blipFill>
        <p:spPr>
          <a:xfrm>
            <a:off x="4606290" y="2108454"/>
            <a:ext cx="251460" cy="251460"/>
          </a:xfrm>
          <a:prstGeom prst="rect">
            <a:avLst/>
          </a:prstGeom>
        </p:spPr>
      </p:pic>
      <p:sp>
        <p:nvSpPr>
          <p:cNvPr id="15" name="Text 11"/>
          <p:cNvSpPr/>
          <p:nvPr/>
        </p:nvSpPr>
        <p:spPr>
          <a:xfrm>
            <a:off x="5120640" y="1719072"/>
            <a:ext cx="2491740" cy="365760"/>
          </a:xfrm>
          <a:prstGeom prst="rect">
            <a:avLst/>
          </a:prstGeom>
          <a:noFill/>
          <a:ln/>
        </p:spPr>
        <p:txBody>
          <a:bodyPr wrap="square"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Improve Inventory Planning</a:t>
            </a:r>
            <a:endParaRPr lang="en-US" sz="1300" dirty="0"/>
          </a:p>
        </p:txBody>
      </p:sp>
      <p:sp>
        <p:nvSpPr>
          <p:cNvPr id="16" name="Text 12"/>
          <p:cNvSpPr/>
          <p:nvPr/>
        </p:nvSpPr>
        <p:spPr>
          <a:xfrm>
            <a:off x="5120640" y="2084832"/>
            <a:ext cx="2491740" cy="365760"/>
          </a:xfrm>
          <a:prstGeom prst="rect">
            <a:avLst/>
          </a:prstGeom>
          <a:noFill/>
          <a:ln/>
        </p:spPr>
        <p:txBody>
          <a:bodyPr wrap="square" rtlCol="0" anchor="t"/>
          <a:lstStyle/>
          <a:p>
            <a:pPr marL="0" indent="0">
              <a:buNone/>
            </a:pPr>
            <a:r>
              <a:rPr lang="en-US" sz="1050" dirty="0">
                <a:solidFill>
                  <a:srgbClr val="36454F"/>
                </a:solidFill>
                <a:latin typeface="Calibri" pitchFamily="34" charset="0"/>
                <a:ea typeface="Calibri" pitchFamily="34" charset="-122"/>
                <a:cs typeface="Calibri" pitchFamily="34" charset="-120"/>
              </a:rPr>
              <a:t>Stock what customers actually buy</a:t>
            </a:r>
            <a:endParaRPr lang="en-US" sz="1050" dirty="0"/>
          </a:p>
        </p:txBody>
      </p:sp>
      <p:sp>
        <p:nvSpPr>
          <p:cNvPr id="17" name="Shape 13"/>
          <p:cNvSpPr/>
          <p:nvPr/>
        </p:nvSpPr>
        <p:spPr>
          <a:xfrm>
            <a:off x="7932420" y="1600200"/>
            <a:ext cx="3451860" cy="1267968"/>
          </a:xfrm>
          <a:prstGeom prst="roundRect">
            <a:avLst>
              <a:gd name="adj" fmla="val 4327"/>
            </a:avLst>
          </a:prstGeom>
          <a:solidFill>
            <a:srgbClr val="FFFFFF"/>
          </a:solidFill>
          <a:ln w="12700">
            <a:solidFill>
              <a:srgbClr val="E3E8F2"/>
            </a:solidFill>
            <a:prstDash val="solid"/>
          </a:ln>
        </p:spPr>
      </p:sp>
      <p:sp>
        <p:nvSpPr>
          <p:cNvPr id="18" name="Shape 14"/>
          <p:cNvSpPr/>
          <p:nvPr/>
        </p:nvSpPr>
        <p:spPr>
          <a:xfrm>
            <a:off x="8115300" y="1982724"/>
            <a:ext cx="502920" cy="502920"/>
          </a:xfrm>
          <a:prstGeom prst="ellipse">
            <a:avLst/>
          </a:prstGeom>
          <a:solidFill>
            <a:srgbClr val="1E2761"/>
          </a:solidFill>
          <a:ln/>
        </p:spPr>
      </p:sp>
      <p:pic>
        <p:nvPicPr>
          <p:cNvPr id="19" name="Image 2" descr="/home/claude/deck/icons/bullhorn.png"/>
          <p:cNvPicPr>
            <a:picLocks noChangeAspect="1"/>
          </p:cNvPicPr>
          <p:nvPr/>
        </p:nvPicPr>
        <p:blipFill>
          <a:blip r:embed="rId5"/>
          <a:stretch>
            <a:fillRect/>
          </a:stretch>
        </p:blipFill>
        <p:spPr>
          <a:xfrm>
            <a:off x="8241030" y="2108454"/>
            <a:ext cx="251460" cy="251460"/>
          </a:xfrm>
          <a:prstGeom prst="rect">
            <a:avLst/>
          </a:prstGeom>
        </p:spPr>
      </p:pic>
      <p:sp>
        <p:nvSpPr>
          <p:cNvPr id="20" name="Text 15"/>
          <p:cNvSpPr/>
          <p:nvPr/>
        </p:nvSpPr>
        <p:spPr>
          <a:xfrm>
            <a:off x="8755380" y="1719072"/>
            <a:ext cx="2491740" cy="365760"/>
          </a:xfrm>
          <a:prstGeom prst="rect">
            <a:avLst/>
          </a:prstGeom>
          <a:noFill/>
          <a:ln/>
        </p:spPr>
        <p:txBody>
          <a:bodyPr wrap="square"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Focus Marketing Spend</a:t>
            </a:r>
            <a:endParaRPr lang="en-US" sz="1300" dirty="0"/>
          </a:p>
        </p:txBody>
      </p:sp>
      <p:sp>
        <p:nvSpPr>
          <p:cNvPr id="21" name="Text 16"/>
          <p:cNvSpPr/>
          <p:nvPr/>
        </p:nvSpPr>
        <p:spPr>
          <a:xfrm>
            <a:off x="8755380" y="2084832"/>
            <a:ext cx="2491740" cy="365760"/>
          </a:xfrm>
          <a:prstGeom prst="rect">
            <a:avLst/>
          </a:prstGeom>
          <a:noFill/>
          <a:ln/>
        </p:spPr>
        <p:txBody>
          <a:bodyPr wrap="square" rtlCol="0" anchor="t"/>
          <a:lstStyle/>
          <a:p>
            <a:pPr marL="0" indent="0">
              <a:buNone/>
            </a:pPr>
            <a:r>
              <a:rPr lang="en-US" sz="1050" dirty="0">
                <a:solidFill>
                  <a:srgbClr val="36454F"/>
                </a:solidFill>
                <a:latin typeface="Calibri" pitchFamily="34" charset="0"/>
                <a:ea typeface="Calibri" pitchFamily="34" charset="-122"/>
                <a:cs typeface="Calibri" pitchFamily="34" charset="-120"/>
              </a:rPr>
              <a:t>Double down on high performers</a:t>
            </a:r>
            <a:endParaRPr lang="en-US" sz="1050" dirty="0"/>
          </a:p>
        </p:txBody>
      </p:sp>
      <p:sp>
        <p:nvSpPr>
          <p:cNvPr id="22" name="Shape 17"/>
          <p:cNvSpPr/>
          <p:nvPr/>
        </p:nvSpPr>
        <p:spPr>
          <a:xfrm>
            <a:off x="4297680" y="3032760"/>
            <a:ext cx="3451860" cy="1267968"/>
          </a:xfrm>
          <a:prstGeom prst="roundRect">
            <a:avLst>
              <a:gd name="adj" fmla="val 4327"/>
            </a:avLst>
          </a:prstGeom>
          <a:solidFill>
            <a:srgbClr val="FFFFFF"/>
          </a:solidFill>
          <a:ln w="12700">
            <a:solidFill>
              <a:srgbClr val="E3E8F2"/>
            </a:solidFill>
            <a:prstDash val="solid"/>
          </a:ln>
        </p:spPr>
      </p:sp>
      <p:sp>
        <p:nvSpPr>
          <p:cNvPr id="23" name="Shape 18"/>
          <p:cNvSpPr/>
          <p:nvPr/>
        </p:nvSpPr>
        <p:spPr>
          <a:xfrm>
            <a:off x="4480560" y="3415284"/>
            <a:ext cx="502920" cy="502920"/>
          </a:xfrm>
          <a:prstGeom prst="ellipse">
            <a:avLst/>
          </a:prstGeom>
          <a:solidFill>
            <a:srgbClr val="1E2761"/>
          </a:solidFill>
          <a:ln/>
        </p:spPr>
      </p:sp>
      <p:pic>
        <p:nvPicPr>
          <p:cNvPr id="24" name="Image 3" descr="/home/claude/deck/icons/wrench.png"/>
          <p:cNvPicPr>
            <a:picLocks noChangeAspect="1"/>
          </p:cNvPicPr>
          <p:nvPr/>
        </p:nvPicPr>
        <p:blipFill>
          <a:blip r:embed="rId6"/>
          <a:stretch>
            <a:fillRect/>
          </a:stretch>
        </p:blipFill>
        <p:spPr>
          <a:xfrm>
            <a:off x="4606290" y="3541014"/>
            <a:ext cx="251460" cy="251460"/>
          </a:xfrm>
          <a:prstGeom prst="rect">
            <a:avLst/>
          </a:prstGeom>
        </p:spPr>
      </p:pic>
      <p:sp>
        <p:nvSpPr>
          <p:cNvPr id="25" name="Text 19"/>
          <p:cNvSpPr/>
          <p:nvPr/>
        </p:nvSpPr>
        <p:spPr>
          <a:xfrm>
            <a:off x="5120640" y="3151632"/>
            <a:ext cx="2491740" cy="365760"/>
          </a:xfrm>
          <a:prstGeom prst="rect">
            <a:avLst/>
          </a:prstGeom>
          <a:noFill/>
          <a:ln/>
        </p:spPr>
        <p:txBody>
          <a:bodyPr wrap="square"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Fix Underperformers</a:t>
            </a:r>
            <a:endParaRPr lang="en-US" sz="1300" dirty="0"/>
          </a:p>
        </p:txBody>
      </p:sp>
      <p:sp>
        <p:nvSpPr>
          <p:cNvPr id="26" name="Text 20"/>
          <p:cNvSpPr/>
          <p:nvPr/>
        </p:nvSpPr>
        <p:spPr>
          <a:xfrm>
            <a:off x="5120640" y="3517392"/>
            <a:ext cx="2491740" cy="365760"/>
          </a:xfrm>
          <a:prstGeom prst="rect">
            <a:avLst/>
          </a:prstGeom>
          <a:noFill/>
          <a:ln/>
        </p:spPr>
        <p:txBody>
          <a:bodyPr wrap="square" rtlCol="0" anchor="t"/>
          <a:lstStyle/>
          <a:p>
            <a:pPr marL="0" indent="0">
              <a:buNone/>
            </a:pPr>
            <a:r>
              <a:rPr lang="en-US" sz="1050" dirty="0">
                <a:solidFill>
                  <a:srgbClr val="36454F"/>
                </a:solidFill>
                <a:latin typeface="Calibri" pitchFamily="34" charset="0"/>
                <a:ea typeface="Calibri" pitchFamily="34" charset="-122"/>
                <a:cs typeface="Calibri" pitchFamily="34" charset="-120"/>
              </a:rPr>
              <a:t>Take corrective action early</a:t>
            </a:r>
            <a:endParaRPr lang="en-US" sz="1050" dirty="0"/>
          </a:p>
        </p:txBody>
      </p:sp>
      <p:sp>
        <p:nvSpPr>
          <p:cNvPr id="27" name="Shape 21"/>
          <p:cNvSpPr/>
          <p:nvPr/>
        </p:nvSpPr>
        <p:spPr>
          <a:xfrm>
            <a:off x="7932420" y="3032760"/>
            <a:ext cx="3451860" cy="1267968"/>
          </a:xfrm>
          <a:prstGeom prst="roundRect">
            <a:avLst>
              <a:gd name="adj" fmla="val 4327"/>
            </a:avLst>
          </a:prstGeom>
          <a:solidFill>
            <a:srgbClr val="FFFFFF"/>
          </a:solidFill>
          <a:ln w="12700">
            <a:solidFill>
              <a:srgbClr val="E3E8F2"/>
            </a:solidFill>
            <a:prstDash val="solid"/>
          </a:ln>
        </p:spPr>
      </p:sp>
      <p:sp>
        <p:nvSpPr>
          <p:cNvPr id="28" name="Shape 22"/>
          <p:cNvSpPr/>
          <p:nvPr/>
        </p:nvSpPr>
        <p:spPr>
          <a:xfrm>
            <a:off x="8115300" y="3415284"/>
            <a:ext cx="502920" cy="502920"/>
          </a:xfrm>
          <a:prstGeom prst="ellipse">
            <a:avLst/>
          </a:prstGeom>
          <a:solidFill>
            <a:srgbClr val="1E2761"/>
          </a:solidFill>
          <a:ln/>
        </p:spPr>
      </p:sp>
      <p:pic>
        <p:nvPicPr>
          <p:cNvPr id="29" name="Image 4" descr="/home/claude/deck/icons/calendar.png"/>
          <p:cNvPicPr>
            <a:picLocks noChangeAspect="1"/>
          </p:cNvPicPr>
          <p:nvPr/>
        </p:nvPicPr>
        <p:blipFill>
          <a:blip r:embed="rId7"/>
          <a:stretch>
            <a:fillRect/>
          </a:stretch>
        </p:blipFill>
        <p:spPr>
          <a:xfrm>
            <a:off x="8241030" y="3541014"/>
            <a:ext cx="251460" cy="251460"/>
          </a:xfrm>
          <a:prstGeom prst="rect">
            <a:avLst/>
          </a:prstGeom>
        </p:spPr>
      </p:pic>
      <p:sp>
        <p:nvSpPr>
          <p:cNvPr id="30" name="Text 23"/>
          <p:cNvSpPr/>
          <p:nvPr/>
        </p:nvSpPr>
        <p:spPr>
          <a:xfrm>
            <a:off x="8755380" y="3151632"/>
            <a:ext cx="2491740" cy="365760"/>
          </a:xfrm>
          <a:prstGeom prst="rect">
            <a:avLst/>
          </a:prstGeom>
          <a:noFill/>
          <a:ln/>
        </p:spPr>
        <p:txBody>
          <a:bodyPr wrap="square"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Monitor Seasonal Demand</a:t>
            </a:r>
            <a:endParaRPr lang="en-US" sz="1300" dirty="0"/>
          </a:p>
        </p:txBody>
      </p:sp>
      <p:sp>
        <p:nvSpPr>
          <p:cNvPr id="31" name="Text 24"/>
          <p:cNvSpPr/>
          <p:nvPr/>
        </p:nvSpPr>
        <p:spPr>
          <a:xfrm>
            <a:off x="8755380" y="3517392"/>
            <a:ext cx="2491740" cy="365760"/>
          </a:xfrm>
          <a:prstGeom prst="rect">
            <a:avLst/>
          </a:prstGeom>
          <a:noFill/>
          <a:ln/>
        </p:spPr>
        <p:txBody>
          <a:bodyPr wrap="square" rtlCol="0" anchor="t"/>
          <a:lstStyle/>
          <a:p>
            <a:pPr marL="0" indent="0">
              <a:buNone/>
            </a:pPr>
            <a:r>
              <a:rPr lang="en-US" sz="1050" dirty="0">
                <a:solidFill>
                  <a:srgbClr val="36454F"/>
                </a:solidFill>
                <a:latin typeface="Calibri" pitchFamily="34" charset="0"/>
                <a:ea typeface="Calibri" pitchFamily="34" charset="-122"/>
                <a:cs typeface="Calibri" pitchFamily="34" charset="-120"/>
              </a:rPr>
              <a:t>Plan ahead for peak months</a:t>
            </a:r>
            <a:endParaRPr lang="en-US" sz="1050" dirty="0"/>
          </a:p>
        </p:txBody>
      </p:sp>
      <p:sp>
        <p:nvSpPr>
          <p:cNvPr id="32" name="Shape 25"/>
          <p:cNvSpPr/>
          <p:nvPr/>
        </p:nvSpPr>
        <p:spPr>
          <a:xfrm>
            <a:off x="4297680" y="4465320"/>
            <a:ext cx="3451860" cy="1267968"/>
          </a:xfrm>
          <a:prstGeom prst="roundRect">
            <a:avLst>
              <a:gd name="adj" fmla="val 4327"/>
            </a:avLst>
          </a:prstGeom>
          <a:solidFill>
            <a:srgbClr val="FFFFFF"/>
          </a:solidFill>
          <a:ln w="12700">
            <a:solidFill>
              <a:srgbClr val="E3E8F2"/>
            </a:solidFill>
            <a:prstDash val="solid"/>
          </a:ln>
        </p:spPr>
      </p:sp>
      <p:sp>
        <p:nvSpPr>
          <p:cNvPr id="33" name="Shape 26"/>
          <p:cNvSpPr/>
          <p:nvPr/>
        </p:nvSpPr>
        <p:spPr>
          <a:xfrm>
            <a:off x="4480560" y="4847844"/>
            <a:ext cx="502920" cy="502920"/>
          </a:xfrm>
          <a:prstGeom prst="ellipse">
            <a:avLst/>
          </a:prstGeom>
          <a:solidFill>
            <a:srgbClr val="1E2761"/>
          </a:solidFill>
          <a:ln/>
        </p:spPr>
      </p:sp>
      <p:pic>
        <p:nvPicPr>
          <p:cNvPr id="34" name="Image 5" descr="/home/claude/deck/icons/smile.png"/>
          <p:cNvPicPr>
            <a:picLocks noChangeAspect="1"/>
          </p:cNvPicPr>
          <p:nvPr/>
        </p:nvPicPr>
        <p:blipFill>
          <a:blip r:embed="rId8"/>
          <a:stretch>
            <a:fillRect/>
          </a:stretch>
        </p:blipFill>
        <p:spPr>
          <a:xfrm>
            <a:off x="4606290" y="4973574"/>
            <a:ext cx="251460" cy="251460"/>
          </a:xfrm>
          <a:prstGeom prst="rect">
            <a:avLst/>
          </a:prstGeom>
        </p:spPr>
      </p:pic>
      <p:sp>
        <p:nvSpPr>
          <p:cNvPr id="35" name="Text 27"/>
          <p:cNvSpPr/>
          <p:nvPr/>
        </p:nvSpPr>
        <p:spPr>
          <a:xfrm>
            <a:off x="5120640" y="4584192"/>
            <a:ext cx="2491740" cy="365760"/>
          </a:xfrm>
          <a:prstGeom prst="rect">
            <a:avLst/>
          </a:prstGeom>
          <a:noFill/>
          <a:ln/>
        </p:spPr>
        <p:txBody>
          <a:bodyPr wrap="square"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Boost Satisfaction</a:t>
            </a:r>
            <a:endParaRPr lang="en-US" sz="1300" dirty="0"/>
          </a:p>
        </p:txBody>
      </p:sp>
      <p:sp>
        <p:nvSpPr>
          <p:cNvPr id="36" name="Text 28"/>
          <p:cNvSpPr/>
          <p:nvPr/>
        </p:nvSpPr>
        <p:spPr>
          <a:xfrm>
            <a:off x="5120640" y="4949952"/>
            <a:ext cx="2491740" cy="365760"/>
          </a:xfrm>
          <a:prstGeom prst="rect">
            <a:avLst/>
          </a:prstGeom>
          <a:noFill/>
          <a:ln/>
        </p:spPr>
        <p:txBody>
          <a:bodyPr wrap="square" rtlCol="0" anchor="t"/>
          <a:lstStyle/>
          <a:p>
            <a:pPr marL="0" indent="0">
              <a:buNone/>
            </a:pPr>
            <a:r>
              <a:rPr lang="en-US" sz="1050" dirty="0">
                <a:solidFill>
                  <a:srgbClr val="36454F"/>
                </a:solidFill>
                <a:latin typeface="Calibri" pitchFamily="34" charset="0"/>
                <a:ea typeface="Calibri" pitchFamily="34" charset="-122"/>
                <a:cs typeface="Calibri" pitchFamily="34" charset="-120"/>
              </a:rPr>
              <a:t>Act on review feedback</a:t>
            </a:r>
            <a:endParaRPr lang="en-US" sz="1050" dirty="0"/>
          </a:p>
        </p:txBody>
      </p:sp>
      <p:sp>
        <p:nvSpPr>
          <p:cNvPr id="37" name="Shape 29"/>
          <p:cNvSpPr/>
          <p:nvPr/>
        </p:nvSpPr>
        <p:spPr>
          <a:xfrm>
            <a:off x="7932420" y="4465320"/>
            <a:ext cx="3451860" cy="1267968"/>
          </a:xfrm>
          <a:prstGeom prst="roundRect">
            <a:avLst>
              <a:gd name="adj" fmla="val 4327"/>
            </a:avLst>
          </a:prstGeom>
          <a:solidFill>
            <a:srgbClr val="FFFFFF"/>
          </a:solidFill>
          <a:ln w="12700">
            <a:solidFill>
              <a:srgbClr val="E3E8F2"/>
            </a:solidFill>
            <a:prstDash val="solid"/>
          </a:ln>
        </p:spPr>
      </p:sp>
      <p:sp>
        <p:nvSpPr>
          <p:cNvPr id="38" name="Shape 30"/>
          <p:cNvSpPr/>
          <p:nvPr/>
        </p:nvSpPr>
        <p:spPr>
          <a:xfrm>
            <a:off x="8115300" y="4847844"/>
            <a:ext cx="502920" cy="502920"/>
          </a:xfrm>
          <a:prstGeom prst="ellipse">
            <a:avLst/>
          </a:prstGeom>
          <a:solidFill>
            <a:srgbClr val="1E2761"/>
          </a:solidFill>
          <a:ln/>
        </p:spPr>
      </p:sp>
      <p:pic>
        <p:nvPicPr>
          <p:cNvPr id="39" name="Image 6" descr="/home/claude/deck/icons/compass.png"/>
          <p:cNvPicPr>
            <a:picLocks noChangeAspect="1"/>
          </p:cNvPicPr>
          <p:nvPr/>
        </p:nvPicPr>
        <p:blipFill>
          <a:blip r:embed="rId3"/>
          <a:stretch>
            <a:fillRect/>
          </a:stretch>
        </p:blipFill>
        <p:spPr>
          <a:xfrm>
            <a:off x="8241030" y="4973574"/>
            <a:ext cx="251460" cy="251460"/>
          </a:xfrm>
          <a:prstGeom prst="rect">
            <a:avLst/>
          </a:prstGeom>
        </p:spPr>
      </p:pic>
      <p:sp>
        <p:nvSpPr>
          <p:cNvPr id="40" name="Text 31"/>
          <p:cNvSpPr/>
          <p:nvPr/>
        </p:nvSpPr>
        <p:spPr>
          <a:xfrm>
            <a:off x="8755380" y="4584192"/>
            <a:ext cx="2491740" cy="365760"/>
          </a:xfrm>
          <a:prstGeom prst="rect">
            <a:avLst/>
          </a:prstGeom>
          <a:noFill/>
          <a:ln/>
        </p:spPr>
        <p:txBody>
          <a:bodyPr wrap="square" rtlCol="0" anchor="t"/>
          <a:lstStyle/>
          <a:p>
            <a:pPr marL="0" indent="0">
              <a:buNone/>
            </a:pPr>
            <a:r>
              <a:rPr lang="en-US" sz="1300" b="1" dirty="0">
                <a:solidFill>
                  <a:srgbClr val="1E2761"/>
                </a:solidFill>
                <a:latin typeface="Calibri" pitchFamily="34" charset="0"/>
                <a:ea typeface="Calibri" pitchFamily="34" charset="-122"/>
                <a:cs typeface="Calibri" pitchFamily="34" charset="-120"/>
              </a:rPr>
              <a:t>Support Strategic Planning</a:t>
            </a:r>
            <a:endParaRPr lang="en-US" sz="1300" dirty="0"/>
          </a:p>
        </p:txBody>
      </p:sp>
      <p:sp>
        <p:nvSpPr>
          <p:cNvPr id="41" name="Text 32"/>
          <p:cNvSpPr/>
          <p:nvPr/>
        </p:nvSpPr>
        <p:spPr>
          <a:xfrm>
            <a:off x="8755380" y="4949952"/>
            <a:ext cx="2491740" cy="365760"/>
          </a:xfrm>
          <a:prstGeom prst="rect">
            <a:avLst/>
          </a:prstGeom>
          <a:noFill/>
          <a:ln/>
        </p:spPr>
        <p:txBody>
          <a:bodyPr wrap="square" rtlCol="0" anchor="t"/>
          <a:lstStyle/>
          <a:p>
            <a:pPr marL="0" indent="0">
              <a:buNone/>
            </a:pPr>
            <a:r>
              <a:rPr lang="en-US" sz="1050" dirty="0">
                <a:solidFill>
                  <a:srgbClr val="36454F"/>
                </a:solidFill>
                <a:latin typeface="Calibri" pitchFamily="34" charset="0"/>
                <a:ea typeface="Calibri" pitchFamily="34" charset="-122"/>
                <a:cs typeface="Calibri" pitchFamily="34" charset="-120"/>
              </a:rPr>
              <a:t>Ground strategy in real-time data</a:t>
            </a:r>
            <a:endParaRPr lang="en-US" sz="1050" dirty="0"/>
          </a:p>
        </p:txBody>
      </p:sp>
      <p:sp>
        <p:nvSpPr>
          <p:cNvPr id="42" name="Text 33"/>
          <p:cNvSpPr/>
          <p:nvPr/>
        </p:nvSpPr>
        <p:spPr>
          <a:xfrm>
            <a:off x="457200" y="6473952"/>
            <a:ext cx="7315200" cy="274320"/>
          </a:xfrm>
          <a:prstGeom prst="rect">
            <a:avLst/>
          </a:prstGeom>
          <a:noFill/>
          <a:ln/>
        </p:spPr>
        <p:txBody>
          <a:bodyPr wrap="square" rtlCol="0" anchor="ctr"/>
          <a:lstStyle/>
          <a:p>
            <a:pPr marL="0" indent="0">
              <a:buNone/>
            </a:pPr>
            <a:r>
              <a:rPr lang="en-US" sz="900" kern="0" spc="100" dirty="0">
                <a:solidFill>
                  <a:srgbClr val="A6ADB8"/>
                </a:solidFill>
                <a:latin typeface="Calibri" pitchFamily="34" charset="0"/>
                <a:ea typeface="Calibri" pitchFamily="34" charset="-122"/>
                <a:cs typeface="Calibri" pitchFamily="34" charset="-120"/>
              </a:rPr>
              <a:t>E-COMMERCE SALES ANALYTICS DASHBOARD</a:t>
            </a:r>
            <a:endParaRPr lang="en-US" sz="900" dirty="0"/>
          </a:p>
        </p:txBody>
      </p:sp>
      <p:sp>
        <p:nvSpPr>
          <p:cNvPr id="43" name="Text 34"/>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A6ADB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1828800" y="3840480"/>
            <a:ext cx="5486400" cy="5486400"/>
          </a:xfrm>
          <a:prstGeom prst="ellipse">
            <a:avLst/>
          </a:prstGeom>
          <a:solidFill>
            <a:srgbClr val="161B4D"/>
          </a:solidFill>
          <a:ln/>
        </p:spPr>
      </p:sp>
      <p:sp>
        <p:nvSpPr>
          <p:cNvPr id="3" name="Shape 1"/>
          <p:cNvSpPr/>
          <p:nvPr/>
        </p:nvSpPr>
        <p:spPr>
          <a:xfrm>
            <a:off x="9875520" y="-2286000"/>
            <a:ext cx="4572000" cy="4572000"/>
          </a:xfrm>
          <a:prstGeom prst="ellipse">
            <a:avLst/>
          </a:prstGeom>
          <a:solidFill>
            <a:srgbClr val="161B4D"/>
          </a:solidFill>
          <a:ln/>
        </p:spPr>
      </p:sp>
      <p:sp>
        <p:nvSpPr>
          <p:cNvPr id="4" name="Text 2"/>
          <p:cNvSpPr/>
          <p:nvPr/>
        </p:nvSpPr>
        <p:spPr>
          <a:xfrm>
            <a:off x="822960" y="594360"/>
            <a:ext cx="5486400" cy="274320"/>
          </a:xfrm>
          <a:prstGeom prst="rect">
            <a:avLst/>
          </a:prstGeom>
          <a:noFill/>
          <a:ln/>
        </p:spPr>
        <p:txBody>
          <a:bodyPr wrap="square" rtlCol="0" anchor="ctr"/>
          <a:lstStyle/>
          <a:p>
            <a:pPr marL="0" indent="0">
              <a:buNone/>
            </a:pPr>
            <a:r>
              <a:rPr lang="en-US" sz="1200" b="1" kern="0" spc="150" dirty="0">
                <a:solidFill>
                  <a:srgbClr val="CADCFC"/>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777240" y="868680"/>
            <a:ext cx="10058400" cy="6858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From Data to Decisions</a:t>
            </a:r>
            <a:endParaRPr lang="en-US" sz="3200" dirty="0"/>
          </a:p>
        </p:txBody>
      </p:sp>
      <p:sp>
        <p:nvSpPr>
          <p:cNvPr id="6" name="Shape 4"/>
          <p:cNvSpPr/>
          <p:nvPr/>
        </p:nvSpPr>
        <p:spPr>
          <a:xfrm>
            <a:off x="822960" y="1874520"/>
            <a:ext cx="566928" cy="566928"/>
          </a:xfrm>
          <a:prstGeom prst="ellipse">
            <a:avLst/>
          </a:prstGeom>
          <a:solidFill>
            <a:srgbClr val="3D6FB4"/>
          </a:solidFill>
          <a:ln/>
        </p:spPr>
      </p:sp>
      <p:pic>
        <p:nvPicPr>
          <p:cNvPr id="7" name="Image 0" descr="/home/claude/deck/icons/database.png"/>
          <p:cNvPicPr>
            <a:picLocks noChangeAspect="1"/>
          </p:cNvPicPr>
          <p:nvPr/>
        </p:nvPicPr>
        <p:blipFill>
          <a:blip r:embed="rId3"/>
          <a:stretch>
            <a:fillRect/>
          </a:stretch>
        </p:blipFill>
        <p:spPr>
          <a:xfrm>
            <a:off x="964692" y="2016252"/>
            <a:ext cx="283464" cy="283464"/>
          </a:xfrm>
          <a:prstGeom prst="rect">
            <a:avLst/>
          </a:prstGeom>
        </p:spPr>
      </p:pic>
      <p:sp>
        <p:nvSpPr>
          <p:cNvPr id="8" name="Text 5"/>
          <p:cNvSpPr/>
          <p:nvPr/>
        </p:nvSpPr>
        <p:spPr>
          <a:xfrm>
            <a:off x="1536192" y="1828800"/>
            <a:ext cx="4434840" cy="777240"/>
          </a:xfrm>
          <a:prstGeom prst="rect">
            <a:avLst/>
          </a:prstGeom>
          <a:noFill/>
          <a:ln/>
        </p:spPr>
        <p:txBody>
          <a:bodyPr wrap="square" rtlCol="0" anchor="ctr"/>
          <a:lstStyle/>
          <a:p>
            <a:pPr marL="0" indent="0">
              <a:lnSpc>
                <a:spcPts val="1600"/>
              </a:lnSpc>
              <a:buNone/>
            </a:pPr>
            <a:r>
              <a:rPr lang="en-US" sz="1300" dirty="0">
                <a:solidFill>
                  <a:srgbClr val="E4E9F7"/>
                </a:solidFill>
                <a:latin typeface="Calibri" pitchFamily="34" charset="0"/>
                <a:ea typeface="Calibri" pitchFamily="34" charset="-122"/>
                <a:cs typeface="Calibri" pitchFamily="34" charset="-120"/>
              </a:rPr>
              <a:t>Converted raw sales data into meaningful business insight</a:t>
            </a:r>
            <a:endParaRPr lang="en-US" sz="1300" dirty="0"/>
          </a:p>
        </p:txBody>
      </p:sp>
      <p:sp>
        <p:nvSpPr>
          <p:cNvPr id="9" name="Shape 6"/>
          <p:cNvSpPr/>
          <p:nvPr/>
        </p:nvSpPr>
        <p:spPr>
          <a:xfrm>
            <a:off x="6263640" y="1874520"/>
            <a:ext cx="566928" cy="566928"/>
          </a:xfrm>
          <a:prstGeom prst="ellipse">
            <a:avLst/>
          </a:prstGeom>
          <a:solidFill>
            <a:srgbClr val="3D6FB4"/>
          </a:solidFill>
          <a:ln/>
        </p:spPr>
      </p:sp>
      <p:pic>
        <p:nvPicPr>
          <p:cNvPr id="10" name="Image 1" descr="/home/claude/deck/icons/chartLine.png"/>
          <p:cNvPicPr>
            <a:picLocks noChangeAspect="1"/>
          </p:cNvPicPr>
          <p:nvPr/>
        </p:nvPicPr>
        <p:blipFill>
          <a:blip r:embed="rId4"/>
          <a:stretch>
            <a:fillRect/>
          </a:stretch>
        </p:blipFill>
        <p:spPr>
          <a:xfrm>
            <a:off x="6405372" y="2016252"/>
            <a:ext cx="283464" cy="283464"/>
          </a:xfrm>
          <a:prstGeom prst="rect">
            <a:avLst/>
          </a:prstGeom>
        </p:spPr>
      </p:pic>
      <p:sp>
        <p:nvSpPr>
          <p:cNvPr id="11" name="Text 7"/>
          <p:cNvSpPr/>
          <p:nvPr/>
        </p:nvSpPr>
        <p:spPr>
          <a:xfrm>
            <a:off x="6976872" y="1828800"/>
            <a:ext cx="4434840" cy="777240"/>
          </a:xfrm>
          <a:prstGeom prst="rect">
            <a:avLst/>
          </a:prstGeom>
          <a:noFill/>
          <a:ln/>
        </p:spPr>
        <p:txBody>
          <a:bodyPr wrap="square" rtlCol="0" anchor="ctr"/>
          <a:lstStyle/>
          <a:p>
            <a:pPr marL="0" indent="0">
              <a:lnSpc>
                <a:spcPts val="1600"/>
              </a:lnSpc>
              <a:buNone/>
            </a:pPr>
            <a:r>
              <a:rPr lang="en-US" sz="1300" dirty="0">
                <a:solidFill>
                  <a:srgbClr val="E4E9F7"/>
                </a:solidFill>
                <a:latin typeface="Calibri" pitchFamily="34" charset="0"/>
                <a:ea typeface="Calibri" pitchFamily="34" charset="-122"/>
                <a:cs typeface="Calibri" pitchFamily="34" charset="-120"/>
              </a:rPr>
              <a:t>Built an interactive dashboard for faster analysis</a:t>
            </a:r>
            <a:endParaRPr lang="en-US" sz="1300" dirty="0"/>
          </a:p>
        </p:txBody>
      </p:sp>
      <p:sp>
        <p:nvSpPr>
          <p:cNvPr id="12" name="Shape 8"/>
          <p:cNvSpPr/>
          <p:nvPr/>
        </p:nvSpPr>
        <p:spPr>
          <a:xfrm>
            <a:off x="822960" y="3017520"/>
            <a:ext cx="566928" cy="566928"/>
          </a:xfrm>
          <a:prstGeom prst="ellipse">
            <a:avLst/>
          </a:prstGeom>
          <a:solidFill>
            <a:srgbClr val="3D6FB4"/>
          </a:solidFill>
          <a:ln/>
        </p:spPr>
      </p:sp>
      <p:pic>
        <p:nvPicPr>
          <p:cNvPr id="13" name="Image 2" descr="/home/claude/deck/icons/chartBar.png"/>
          <p:cNvPicPr>
            <a:picLocks noChangeAspect="1"/>
          </p:cNvPicPr>
          <p:nvPr/>
        </p:nvPicPr>
        <p:blipFill>
          <a:blip r:embed="rId5"/>
          <a:stretch>
            <a:fillRect/>
          </a:stretch>
        </p:blipFill>
        <p:spPr>
          <a:xfrm>
            <a:off x="964692" y="3159252"/>
            <a:ext cx="283464" cy="283464"/>
          </a:xfrm>
          <a:prstGeom prst="rect">
            <a:avLst/>
          </a:prstGeom>
        </p:spPr>
      </p:pic>
      <p:sp>
        <p:nvSpPr>
          <p:cNvPr id="14" name="Text 9"/>
          <p:cNvSpPr/>
          <p:nvPr/>
        </p:nvSpPr>
        <p:spPr>
          <a:xfrm>
            <a:off x="1536192" y="2971800"/>
            <a:ext cx="4434840" cy="777240"/>
          </a:xfrm>
          <a:prstGeom prst="rect">
            <a:avLst/>
          </a:prstGeom>
          <a:noFill/>
          <a:ln/>
        </p:spPr>
        <p:txBody>
          <a:bodyPr wrap="square" rtlCol="0" anchor="ctr"/>
          <a:lstStyle/>
          <a:p>
            <a:pPr marL="0" indent="0">
              <a:lnSpc>
                <a:spcPts val="1600"/>
              </a:lnSpc>
              <a:buNone/>
            </a:pPr>
            <a:r>
              <a:rPr lang="en-US" sz="1300" dirty="0">
                <a:solidFill>
                  <a:srgbClr val="E4E9F7"/>
                </a:solidFill>
                <a:latin typeface="Calibri" pitchFamily="34" charset="0"/>
                <a:ea typeface="Calibri" pitchFamily="34" charset="-122"/>
                <a:cs typeface="Calibri" pitchFamily="34" charset="-120"/>
              </a:rPr>
              <a:t>Improved visibility into sales, products, and feedback</a:t>
            </a:r>
            <a:endParaRPr lang="en-US" sz="1300" dirty="0"/>
          </a:p>
        </p:txBody>
      </p:sp>
      <p:sp>
        <p:nvSpPr>
          <p:cNvPr id="15" name="Shape 10"/>
          <p:cNvSpPr/>
          <p:nvPr/>
        </p:nvSpPr>
        <p:spPr>
          <a:xfrm>
            <a:off x="6263640" y="3017520"/>
            <a:ext cx="566928" cy="566928"/>
          </a:xfrm>
          <a:prstGeom prst="ellipse">
            <a:avLst/>
          </a:prstGeom>
          <a:solidFill>
            <a:srgbClr val="3D6FB4"/>
          </a:solidFill>
          <a:ln/>
        </p:spPr>
      </p:sp>
      <p:pic>
        <p:nvPicPr>
          <p:cNvPr id="16" name="Image 3" descr="/home/claude/deck/icons/check.png"/>
          <p:cNvPicPr>
            <a:picLocks noChangeAspect="1"/>
          </p:cNvPicPr>
          <p:nvPr/>
        </p:nvPicPr>
        <p:blipFill>
          <a:blip r:embed="rId6"/>
          <a:stretch>
            <a:fillRect/>
          </a:stretch>
        </p:blipFill>
        <p:spPr>
          <a:xfrm>
            <a:off x="6405372" y="3159252"/>
            <a:ext cx="283464" cy="283464"/>
          </a:xfrm>
          <a:prstGeom prst="rect">
            <a:avLst/>
          </a:prstGeom>
        </p:spPr>
      </p:pic>
      <p:sp>
        <p:nvSpPr>
          <p:cNvPr id="17" name="Text 11"/>
          <p:cNvSpPr/>
          <p:nvPr/>
        </p:nvSpPr>
        <p:spPr>
          <a:xfrm>
            <a:off x="6976872" y="2971800"/>
            <a:ext cx="4434840" cy="777240"/>
          </a:xfrm>
          <a:prstGeom prst="rect">
            <a:avLst/>
          </a:prstGeom>
          <a:noFill/>
          <a:ln/>
        </p:spPr>
        <p:txBody>
          <a:bodyPr wrap="square" rtlCol="0" anchor="ctr"/>
          <a:lstStyle/>
          <a:p>
            <a:pPr marL="0" indent="0">
              <a:lnSpc>
                <a:spcPts val="1600"/>
              </a:lnSpc>
              <a:buNone/>
            </a:pPr>
            <a:r>
              <a:rPr lang="en-US" sz="1300" dirty="0">
                <a:solidFill>
                  <a:srgbClr val="E4E9F7"/>
                </a:solidFill>
                <a:latin typeface="Calibri" pitchFamily="34" charset="0"/>
                <a:ea typeface="Calibri" pitchFamily="34" charset="-122"/>
                <a:cs typeface="Calibri" pitchFamily="34" charset="-120"/>
              </a:rPr>
              <a:t>Enabled informed, data-driven business decisions</a:t>
            </a:r>
            <a:endParaRPr lang="en-US" sz="1300" dirty="0"/>
          </a:p>
        </p:txBody>
      </p:sp>
      <p:sp>
        <p:nvSpPr>
          <p:cNvPr id="18" name="Shape 12"/>
          <p:cNvSpPr/>
          <p:nvPr/>
        </p:nvSpPr>
        <p:spPr>
          <a:xfrm>
            <a:off x="822960" y="4160520"/>
            <a:ext cx="54864" cy="1417320"/>
          </a:xfrm>
          <a:prstGeom prst="rect">
            <a:avLst/>
          </a:prstGeom>
          <a:solidFill>
            <a:srgbClr val="3D6FB4"/>
          </a:solidFill>
          <a:ln/>
        </p:spPr>
      </p:sp>
      <p:sp>
        <p:nvSpPr>
          <p:cNvPr id="19" name="Text 13"/>
          <p:cNvSpPr/>
          <p:nvPr/>
        </p:nvSpPr>
        <p:spPr>
          <a:xfrm>
            <a:off x="1097280" y="4114800"/>
            <a:ext cx="9966960" cy="1463040"/>
          </a:xfrm>
          <a:prstGeom prst="rect">
            <a:avLst/>
          </a:prstGeom>
          <a:noFill/>
          <a:ln/>
        </p:spPr>
        <p:txBody>
          <a:bodyPr wrap="square" rtlCol="0" anchor="ctr"/>
          <a:lstStyle/>
          <a:p>
            <a:pPr marL="0" indent="0">
              <a:lnSpc>
                <a:spcPts val="2300"/>
              </a:lnSpc>
              <a:buNone/>
            </a:pPr>
            <a:r>
              <a:rPr lang="en-US" sz="1700" i="1" dirty="0">
                <a:solidFill>
                  <a:srgbClr val="FFFFFF"/>
                </a:solidFill>
                <a:latin typeface="Cambria" pitchFamily="34" charset="0"/>
                <a:ea typeface="Cambria" pitchFamily="34" charset="-122"/>
                <a:cs typeface="Cambria" pitchFamily="34" charset="-120"/>
              </a:rPr>
              <a:t>“This dashboard empowers business leaders to transform sales data into actionable strategies — improving operational efficiency, customer satisfaction, and overall business growth.”</a:t>
            </a:r>
            <a:endParaRPr lang="en-US" sz="1700" dirty="0"/>
          </a:p>
        </p:txBody>
      </p:sp>
      <p:sp>
        <p:nvSpPr>
          <p:cNvPr id="20" name="Shape 14"/>
          <p:cNvSpPr/>
          <p:nvPr/>
        </p:nvSpPr>
        <p:spPr>
          <a:xfrm>
            <a:off x="5641848" y="5806440"/>
            <a:ext cx="640080" cy="640080"/>
          </a:xfrm>
          <a:prstGeom prst="ellipse">
            <a:avLst/>
          </a:prstGeom>
          <a:solidFill>
            <a:srgbClr val="3D6FB4"/>
          </a:solidFill>
          <a:ln/>
        </p:spPr>
      </p:sp>
      <p:pic>
        <p:nvPicPr>
          <p:cNvPr id="21" name="Image 4" descr="/home/claude/deck/icons/rocket.png"/>
          <p:cNvPicPr>
            <a:picLocks noChangeAspect="1"/>
          </p:cNvPicPr>
          <p:nvPr/>
        </p:nvPicPr>
        <p:blipFill>
          <a:blip r:embed="rId7"/>
          <a:stretch>
            <a:fillRect/>
          </a:stretch>
        </p:blipFill>
        <p:spPr>
          <a:xfrm>
            <a:off x="5785866" y="5950458"/>
            <a:ext cx="352044" cy="352044"/>
          </a:xfrm>
          <a:prstGeom prst="rect">
            <a:avLst/>
          </a:prstGeom>
        </p:spPr>
      </p:pic>
      <p:sp>
        <p:nvSpPr>
          <p:cNvPr id="22" name="Text 15"/>
          <p:cNvSpPr/>
          <p:nvPr/>
        </p:nvSpPr>
        <p:spPr>
          <a:xfrm>
            <a:off x="822960" y="5806440"/>
            <a:ext cx="10515600" cy="640080"/>
          </a:xfrm>
          <a:prstGeom prst="rect">
            <a:avLst/>
          </a:prstGeom>
          <a:noFill/>
          <a:ln/>
        </p:spPr>
        <p:txBody>
          <a:bodyPr wrap="square"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Thank You</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703</TotalTime>
  <Words>886</Words>
  <Application>Microsoft Office PowerPoint</Application>
  <PresentationFormat>Widescreen</PresentationFormat>
  <Paragraphs>111</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Md Zahid</cp:lastModifiedBy>
  <cp:revision>2</cp:revision>
  <dcterms:created xsi:type="dcterms:W3CDTF">2026-07-13T18:27:56Z</dcterms:created>
  <dcterms:modified xsi:type="dcterms:W3CDTF">2026-07-14T06:33:22Z</dcterms:modified>
</cp:coreProperties>
</file>